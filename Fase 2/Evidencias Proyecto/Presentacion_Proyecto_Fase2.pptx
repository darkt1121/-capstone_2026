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lice" charset="1" panose="00000500000000000000"/>
      <p:regular r:id="rId15"/>
    </p:embeddedFont>
    <p:embeddedFont>
      <p:font typeface="Arial" charset="1" panose="020B0604020202020204"/>
      <p:regular r:id="rId16"/>
    </p:embeddedFont>
    <p:embeddedFont>
      <p:font typeface="Arial Bold" charset="1" panose="020B0704020202020204"/>
      <p:regular r:id="rId17"/>
    </p:embeddedFont>
    <p:embeddedFont>
      <p:font typeface="Alice Bold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5698" y="6093366"/>
            <a:ext cx="5360137" cy="107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EQUIPO DE TRABAJO:</a:t>
            </a:r>
          </a:p>
          <a:p>
            <a:pPr algn="ctr">
              <a:lnSpc>
                <a:spcPts val="434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241733" y="6811593"/>
            <a:ext cx="4676015" cy="215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KEVIN DIONICIO</a:t>
            </a:r>
          </a:p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CAMILO PONCE</a:t>
            </a:r>
          </a:p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JOHAN HUAMANCHUMO  </a:t>
            </a:r>
          </a:p>
          <a:p>
            <a:pPr algn="l">
              <a:lnSpc>
                <a:spcPts val="434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401653" y="2328688"/>
            <a:ext cx="5484693" cy="209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67"/>
              </a:lnSpc>
            </a:pPr>
            <a:r>
              <a:rPr lang="en-US" sz="12262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FinFlow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0599" y="1342353"/>
            <a:ext cx="5943699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Introduccion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7201" y="3215499"/>
            <a:ext cx="14716125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FinFlow es un proyecto de aplicación web para la gestión de finanzas personales de trabajadores independientes.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7201" y="4834749"/>
            <a:ext cx="14716125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sistema obtiene los movimientos bancarios del usuario, los clasifica y proyecta su saldo para las próximas semanas.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7201" y="6453999"/>
            <a:ext cx="1471612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esta fase se presenta un prototipo funcional que trabaja con datos de prueba.</a:t>
            </a:r>
          </a:p>
        </p:txBody>
      </p:sp>
    </p:spTree>
  </p:cSld>
  <p:clrMapOvr>
    <a:masterClrMapping/>
  </p:clrMapOvr>
  <p:transition spd="fast">
    <p:wipe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7273" y="946322"/>
            <a:ext cx="4337348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Objetivos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3713" y="3001306"/>
            <a:ext cx="3747823" cy="679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Objetivo general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99013" y="3890208"/>
            <a:ext cx="7817414" cy="12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Desarrollar una aplicación web que clasifique automáticamente los movimientos bancarios y proyecte el saldo del usuario.​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6291" y="5633833"/>
            <a:ext cx="4778330" cy="68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sz="3998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Objetivos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7273" y="6527304"/>
            <a:ext cx="10229454" cy="167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Obtener los movimientos bancarios desde la cartola del banco.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Clasificar cada movimiento en ingreso o gasto, de negocio o personal.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Proyectar el saldo a cuatro semanas y alertar antes de bajar del mínimo.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wipe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72980" y="1112850"/>
            <a:ext cx="4367940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Problema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75" y="3597774"/>
            <a:ext cx="9902528" cy="167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L</a:t>
            </a: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os ingresos y gastos del negocio se mezclan con los personales.​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Registrar los movimientos a mano es lento y propenso a errores.​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El saldo actual no indica si el dinero alcanzará hasta el próximo pago.​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7957" y="1000064"/>
            <a:ext cx="3922779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Solución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663" y="2812477"/>
            <a:ext cx="7957438" cy="292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Cla</a:t>
            </a: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sifica cada movimiento en ingreso de negocio, ingreso personal, gasto operacional o gasto personal.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Indica el motivo de cada clasificación. El usuario puede corregirla.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Detecta pagos fijos y traspasos entre cuentas propias.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Proyecta el saldo y genera una alerta.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183059" y="2545525"/>
            <a:ext cx="9995003" cy="4819019"/>
          </a:xfrm>
          <a:custGeom>
            <a:avLst/>
            <a:gdLst/>
            <a:ahLst/>
            <a:cxnLst/>
            <a:rect r="r" b="b" t="t" l="l"/>
            <a:pathLst>
              <a:path h="4819019" w="9995003">
                <a:moveTo>
                  <a:pt x="0" y="0"/>
                </a:moveTo>
                <a:lnTo>
                  <a:pt x="9995003" y="0"/>
                </a:lnTo>
                <a:lnTo>
                  <a:pt x="9995003" y="4819019"/>
                </a:lnTo>
                <a:lnTo>
                  <a:pt x="0" y="4819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221504"/>
            <a:ext cx="3276600" cy="1843830"/>
            <a:chOff x="0" y="0"/>
            <a:chExt cx="4368800" cy="24584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8800" cy="2458466"/>
            </a:xfrm>
            <a:custGeom>
              <a:avLst/>
              <a:gdLst/>
              <a:ahLst/>
              <a:cxnLst/>
              <a:rect r="r" b="b" t="t" l="l"/>
              <a:pathLst>
                <a:path h="2458466" w="4368800">
                  <a:moveTo>
                    <a:pt x="0" y="0"/>
                  </a:moveTo>
                  <a:lnTo>
                    <a:pt x="4368800" y="0"/>
                  </a:lnTo>
                  <a:lnTo>
                    <a:pt x="4368800" y="2458466"/>
                  </a:lnTo>
                  <a:lnTo>
                    <a:pt x="0" y="24584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99" t="0" r="-22199" b="1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533900" y="5086345"/>
            <a:ext cx="457200" cy="114300"/>
            <a:chOff x="0" y="0"/>
            <a:chExt cx="609600" cy="152400"/>
          </a:xfrm>
        </p:grpSpPr>
        <p:sp>
          <p:nvSpPr>
            <p:cNvPr name="Freeform 6" id="6" descr="connector"/>
            <p:cNvSpPr/>
            <p:nvPr/>
          </p:nvSpPr>
          <p:spPr>
            <a:xfrm flipH="false" flipV="false" rot="0">
              <a:off x="0" y="0"/>
              <a:ext cx="609600" cy="152400"/>
            </a:xfrm>
            <a:custGeom>
              <a:avLst/>
              <a:gdLst/>
              <a:ahLst/>
              <a:cxnLst/>
              <a:rect r="r" b="b" t="t" l="l"/>
              <a:pathLst>
                <a:path h="152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19700" y="4048273"/>
            <a:ext cx="3276600" cy="2190455"/>
            <a:chOff x="0" y="0"/>
            <a:chExt cx="4368800" cy="2920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68800" cy="2920619"/>
            </a:xfrm>
            <a:custGeom>
              <a:avLst/>
              <a:gdLst/>
              <a:ahLst/>
              <a:cxnLst/>
              <a:rect r="r" b="b" t="t" l="l"/>
              <a:pathLst>
                <a:path h="2920619" w="4368800">
                  <a:moveTo>
                    <a:pt x="0" y="0"/>
                  </a:moveTo>
                  <a:lnTo>
                    <a:pt x="4368800" y="0"/>
                  </a:lnTo>
                  <a:lnTo>
                    <a:pt x="4368800" y="2920619"/>
                  </a:lnTo>
                  <a:lnTo>
                    <a:pt x="0" y="29206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772" t="0" r="-3577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724900" y="5086345"/>
            <a:ext cx="457200" cy="114300"/>
            <a:chOff x="0" y="0"/>
            <a:chExt cx="609600" cy="152400"/>
          </a:xfrm>
        </p:grpSpPr>
        <p:sp>
          <p:nvSpPr>
            <p:cNvPr name="Freeform 10" id="10" descr="connector"/>
            <p:cNvSpPr/>
            <p:nvPr/>
          </p:nvSpPr>
          <p:spPr>
            <a:xfrm flipH="false" flipV="false" rot="0">
              <a:off x="0" y="0"/>
              <a:ext cx="609600" cy="152400"/>
            </a:xfrm>
            <a:custGeom>
              <a:avLst/>
              <a:gdLst/>
              <a:ahLst/>
              <a:cxnLst/>
              <a:rect r="r" b="b" t="t" l="l"/>
              <a:pathLst>
                <a:path h="152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10700" y="4221504"/>
            <a:ext cx="3276600" cy="1843830"/>
            <a:chOff x="0" y="0"/>
            <a:chExt cx="4368800" cy="24584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68800" cy="2458466"/>
            </a:xfrm>
            <a:custGeom>
              <a:avLst/>
              <a:gdLst/>
              <a:ahLst/>
              <a:cxnLst/>
              <a:rect r="r" b="b" t="t" l="l"/>
              <a:pathLst>
                <a:path h="2458466" w="4368800">
                  <a:moveTo>
                    <a:pt x="0" y="0"/>
                  </a:moveTo>
                  <a:lnTo>
                    <a:pt x="4368800" y="0"/>
                  </a:lnTo>
                  <a:lnTo>
                    <a:pt x="4368800" y="2458466"/>
                  </a:lnTo>
                  <a:lnTo>
                    <a:pt x="0" y="24584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99" t="0" r="-22199" b="1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915900" y="5086345"/>
            <a:ext cx="457200" cy="114300"/>
            <a:chOff x="0" y="0"/>
            <a:chExt cx="609600" cy="152400"/>
          </a:xfrm>
        </p:grpSpPr>
        <p:sp>
          <p:nvSpPr>
            <p:cNvPr name="Freeform 14" id="14" descr="connector"/>
            <p:cNvSpPr/>
            <p:nvPr/>
          </p:nvSpPr>
          <p:spPr>
            <a:xfrm flipH="false" flipV="false" rot="0">
              <a:off x="0" y="0"/>
              <a:ext cx="609600" cy="152400"/>
            </a:xfrm>
            <a:custGeom>
              <a:avLst/>
              <a:gdLst/>
              <a:ahLst/>
              <a:cxnLst/>
              <a:rect r="r" b="b" t="t" l="l"/>
              <a:pathLst>
                <a:path h="152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601700" y="4221504"/>
            <a:ext cx="3276600" cy="1843830"/>
            <a:chOff x="0" y="0"/>
            <a:chExt cx="4368800" cy="24584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68800" cy="2458466"/>
            </a:xfrm>
            <a:custGeom>
              <a:avLst/>
              <a:gdLst/>
              <a:ahLst/>
              <a:cxnLst/>
              <a:rect r="r" b="b" t="t" l="l"/>
              <a:pathLst>
                <a:path h="2458466" w="4368800">
                  <a:moveTo>
                    <a:pt x="0" y="0"/>
                  </a:moveTo>
                  <a:lnTo>
                    <a:pt x="4368800" y="0"/>
                  </a:lnTo>
                  <a:lnTo>
                    <a:pt x="4368800" y="2458466"/>
                  </a:lnTo>
                  <a:lnTo>
                    <a:pt x="0" y="24584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99" t="0" r="-22199" b="1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90370" y="946322"/>
            <a:ext cx="7431154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Funcionamiento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550" y="4535829"/>
            <a:ext cx="2707767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1. Obtención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2550" y="4991095"/>
            <a:ext cx="2707767" cy="78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Cartola del banco (CSV o Excel)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43550" y="4362598"/>
            <a:ext cx="2707767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2. Lectura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3550" y="4817864"/>
            <a:ext cx="2707767" cy="113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Fecha, monto, descripción y contraparte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34550" y="4535829"/>
            <a:ext cx="2707767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3. Clasificación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34550" y="4991095"/>
            <a:ext cx="2707767" cy="78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Reglas por palabras clave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25550" y="4535829"/>
            <a:ext cx="2707767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4. Proyección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25550" y="4991095"/>
            <a:ext cx="2707767" cy="78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Saldo a cuatro semanas y alerta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249" y="2983587"/>
            <a:ext cx="8984812" cy="4250939"/>
          </a:xfrm>
          <a:custGeom>
            <a:avLst/>
            <a:gdLst/>
            <a:ahLst/>
            <a:cxnLst/>
            <a:rect r="r" b="b" t="t" l="l"/>
            <a:pathLst>
              <a:path h="4250939" w="8984812">
                <a:moveTo>
                  <a:pt x="0" y="0"/>
                </a:moveTo>
                <a:lnTo>
                  <a:pt x="8984812" y="0"/>
                </a:lnTo>
                <a:lnTo>
                  <a:pt x="8984812" y="4250939"/>
                </a:lnTo>
                <a:lnTo>
                  <a:pt x="0" y="4250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84210" y="2983587"/>
            <a:ext cx="8856124" cy="4250939"/>
          </a:xfrm>
          <a:custGeom>
            <a:avLst/>
            <a:gdLst/>
            <a:ahLst/>
            <a:cxnLst/>
            <a:rect r="r" b="b" t="t" l="l"/>
            <a:pathLst>
              <a:path h="4250939" w="8856124">
                <a:moveTo>
                  <a:pt x="0" y="0"/>
                </a:moveTo>
                <a:lnTo>
                  <a:pt x="8856123" y="0"/>
                </a:lnTo>
                <a:lnTo>
                  <a:pt x="8856123" y="4250939"/>
                </a:lnTo>
                <a:lnTo>
                  <a:pt x="0" y="4250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72529" y="786534"/>
            <a:ext cx="2712806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Demo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200" y="1209675"/>
            <a:ext cx="16325088" cy="83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b="true" sz="5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Tecnologías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587290"/>
          <a:ext cx="15811500" cy="3251200"/>
        </p:xfrm>
        <a:graphic>
          <a:graphicData uri="http://schemas.openxmlformats.org/drawingml/2006/table">
            <a:tbl>
              <a:tblPr/>
              <a:tblGrid>
                <a:gridCol w="6332174"/>
                <a:gridCol w="9479326"/>
              </a:tblGrid>
              <a:tr h="650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Componente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Tecnología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B2"/>
                    </a:solidFill>
                  </a:tcPr>
                </a:tc>
              </a:tr>
              <a:tr h="650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Interfaz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HTML, CSS y JavaScript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0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Lectura de cartolas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CSV y Excel (SheetJS)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0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Almacenamiento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localStorage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0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de versiones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 lang="en-US" sz="1100"/>
                    </a:p>
                  </a:txBody>
                  <a:tcPr marL="71120" marR="71120" marT="71120" marB="7112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8694" y="1062748"/>
            <a:ext cx="10239375" cy="119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Avance y planificación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5304" y="2882720"/>
            <a:ext cx="1671505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Realizado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1034" y="3444695"/>
            <a:ext cx="9092765" cy="272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Prototipo navegable de la aplicación</a:t>
            </a:r>
          </a:p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Carga de cartolas en CSV y Excel</a:t>
            </a:r>
          </a:p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Clasificación por reglas en cuatro categorías</a:t>
            </a:r>
          </a:p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Corrección de la clasificación por el usuario</a:t>
            </a:r>
          </a:p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Detección de traspasos y pagos recurrentes</a:t>
            </a:r>
          </a:p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Proyección de saldo a cuatro semanas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10795" y="2882720"/>
            <a:ext cx="1738643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Pendiente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36525" y="3444695"/>
            <a:ext cx="6016171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Conexión bancaria automática</a:t>
            </a:r>
          </a:p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Base de datos</a:t>
            </a:r>
          </a:p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Pruebas</a:t>
            </a:r>
          </a:p>
          <a:p>
            <a:pPr algn="l" marL="407194" indent="-203597" lvl="1">
              <a:lnSpc>
                <a:spcPts val="36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Documentación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DAGp6JXZqas</dc:identifier>
  <dcterms:modified xsi:type="dcterms:W3CDTF">2011-08-01T06:04:30Z</dcterms:modified>
  <cp:revision>1</cp:revision>
  <dc:title>Black White Bold 3D Social Media Report Presentation</dc:title>
</cp:coreProperties>
</file>