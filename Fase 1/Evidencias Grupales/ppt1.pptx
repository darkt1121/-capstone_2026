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Zilla Slab" charset="1" panose="00000000000000000000"/>
      <p:regular r:id="rId16"/>
    </p:embeddedFont>
    <p:embeddedFont>
      <p:font typeface="Open Sans" charset="1" panose="020B0606030504020204"/>
      <p:regular r:id="rId17"/>
    </p:embeddedFont>
    <p:embeddedFont>
      <p:font typeface="Ubuntu" charset="1" panose="020B0504030602030204"/>
      <p:regular r:id="rId18"/>
    </p:embeddedFont>
    <p:embeddedFont>
      <p:font typeface="Zilla Slab Bold" charset="1" panose="00000000000000000000"/>
      <p:regular r:id="rId19"/>
    </p:embeddedFont>
    <p:embeddedFont>
      <p:font typeface="Ubuntu Bold" charset="1" panose="020B080403060203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DD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49107" y="812410"/>
            <a:ext cx="13537069" cy="15066159"/>
            <a:chOff x="0" y="0"/>
            <a:chExt cx="18049425" cy="2008821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570477"/>
              <a:ext cx="4114800" cy="2110011"/>
              <a:chOff x="0" y="0"/>
              <a:chExt cx="812800" cy="416792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416792"/>
              </a:xfrm>
              <a:custGeom>
                <a:avLst/>
                <a:gdLst/>
                <a:ahLst/>
                <a:cxnLst/>
                <a:rect r="r" b="b" t="t" l="l"/>
                <a:pathLst>
                  <a:path h="416792" w="812800">
                    <a:moveTo>
                      <a:pt x="71746" y="0"/>
                    </a:moveTo>
                    <a:lnTo>
                      <a:pt x="741054" y="0"/>
                    </a:lnTo>
                    <a:cubicBezTo>
                      <a:pt x="760082" y="0"/>
                      <a:pt x="778331" y="7559"/>
                      <a:pt x="791786" y="21014"/>
                    </a:cubicBezTo>
                    <a:cubicBezTo>
                      <a:pt x="805241" y="34469"/>
                      <a:pt x="812800" y="52718"/>
                      <a:pt x="812800" y="71746"/>
                    </a:cubicBezTo>
                    <a:lnTo>
                      <a:pt x="812800" y="345046"/>
                    </a:lnTo>
                    <a:cubicBezTo>
                      <a:pt x="812800" y="364075"/>
                      <a:pt x="805241" y="382324"/>
                      <a:pt x="791786" y="395778"/>
                    </a:cubicBezTo>
                    <a:cubicBezTo>
                      <a:pt x="778331" y="409233"/>
                      <a:pt x="760082" y="416792"/>
                      <a:pt x="741054" y="416792"/>
                    </a:cubicBezTo>
                    <a:lnTo>
                      <a:pt x="71746" y="416792"/>
                    </a:lnTo>
                    <a:cubicBezTo>
                      <a:pt x="52718" y="416792"/>
                      <a:pt x="34469" y="409233"/>
                      <a:pt x="21014" y="395778"/>
                    </a:cubicBezTo>
                    <a:cubicBezTo>
                      <a:pt x="7559" y="382324"/>
                      <a:pt x="0" y="364075"/>
                      <a:pt x="0" y="345046"/>
                    </a:cubicBezTo>
                    <a:lnTo>
                      <a:pt x="0" y="71746"/>
                    </a:lnTo>
                    <a:cubicBezTo>
                      <a:pt x="0" y="52718"/>
                      <a:pt x="7559" y="34469"/>
                      <a:pt x="21014" y="21014"/>
                    </a:cubicBezTo>
                    <a:cubicBezTo>
                      <a:pt x="34469" y="7559"/>
                      <a:pt x="52718" y="0"/>
                      <a:pt x="71746" y="0"/>
                    </a:cubicBezTo>
                    <a:close/>
                  </a:path>
                </a:pathLst>
              </a:custGeom>
              <a:solidFill>
                <a:srgbClr val="63AF76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95250"/>
                <a:ext cx="812800" cy="512042"/>
              </a:xfrm>
              <a:prstGeom prst="rect">
                <a:avLst/>
              </a:prstGeom>
            </p:spPr>
            <p:txBody>
              <a:bodyPr anchor="ctr" rtlCol="false" tIns="39078" lIns="39078" bIns="39078" rIns="39078"/>
              <a:lstStyle/>
              <a:p>
                <a:pPr algn="ctr" marL="0" indent="0" lvl="0">
                  <a:lnSpc>
                    <a:spcPts val="361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-5400000">
              <a:off x="9354056" y="5781427"/>
              <a:ext cx="13445707" cy="3945031"/>
              <a:chOff x="0" y="0"/>
              <a:chExt cx="1605052" cy="47092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605052" cy="470929"/>
              </a:xfrm>
              <a:custGeom>
                <a:avLst/>
                <a:gdLst/>
                <a:ahLst/>
                <a:cxnLst/>
                <a:rect r="r" b="b" t="t" l="l"/>
                <a:pathLst>
                  <a:path h="470929" w="1605052">
                    <a:moveTo>
                      <a:pt x="24951" y="0"/>
                    </a:moveTo>
                    <a:lnTo>
                      <a:pt x="1580101" y="0"/>
                    </a:lnTo>
                    <a:cubicBezTo>
                      <a:pt x="1593881" y="0"/>
                      <a:pt x="1605052" y="11171"/>
                      <a:pt x="1605052" y="24951"/>
                    </a:cubicBezTo>
                    <a:lnTo>
                      <a:pt x="1605052" y="445979"/>
                    </a:lnTo>
                    <a:cubicBezTo>
                      <a:pt x="1605052" y="452596"/>
                      <a:pt x="1602423" y="458943"/>
                      <a:pt x="1597744" y="463622"/>
                    </a:cubicBezTo>
                    <a:cubicBezTo>
                      <a:pt x="1593065" y="468301"/>
                      <a:pt x="1586719" y="470929"/>
                      <a:pt x="1580101" y="470929"/>
                    </a:cubicBezTo>
                    <a:lnTo>
                      <a:pt x="24951" y="470929"/>
                    </a:lnTo>
                    <a:cubicBezTo>
                      <a:pt x="11171" y="470929"/>
                      <a:pt x="0" y="459759"/>
                      <a:pt x="0" y="445979"/>
                    </a:cubicBezTo>
                    <a:lnTo>
                      <a:pt x="0" y="24951"/>
                    </a:lnTo>
                    <a:cubicBezTo>
                      <a:pt x="0" y="11171"/>
                      <a:pt x="11171" y="0"/>
                      <a:pt x="24951" y="0"/>
                    </a:cubicBezTo>
                    <a:close/>
                  </a:path>
                </a:pathLst>
              </a:custGeom>
              <a:solidFill>
                <a:srgbClr val="BDB7A3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95250"/>
                <a:ext cx="1605052" cy="5661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1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8609647" y="1031089"/>
              <a:ext cx="2626396" cy="793711"/>
              <a:chOff x="0" y="0"/>
              <a:chExt cx="518794" cy="156782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18794" cy="156782"/>
              </a:xfrm>
              <a:custGeom>
                <a:avLst/>
                <a:gdLst/>
                <a:ahLst/>
                <a:cxnLst/>
                <a:rect r="r" b="b" t="t" l="l"/>
                <a:pathLst>
                  <a:path h="156782" w="518794">
                    <a:moveTo>
                      <a:pt x="0" y="0"/>
                    </a:moveTo>
                    <a:lnTo>
                      <a:pt x="518794" y="0"/>
                    </a:lnTo>
                    <a:lnTo>
                      <a:pt x="518794" y="156782"/>
                    </a:lnTo>
                    <a:lnTo>
                      <a:pt x="0" y="15678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95250"/>
                <a:ext cx="518794" cy="252032"/>
              </a:xfrm>
              <a:prstGeom prst="rect">
                <a:avLst/>
              </a:prstGeom>
            </p:spPr>
            <p:txBody>
              <a:bodyPr anchor="ctr" rtlCol="false" tIns="39078" lIns="39078" bIns="39078" rIns="39078"/>
              <a:lstStyle/>
              <a:p>
                <a:pPr algn="ctr">
                  <a:lnSpc>
                    <a:spcPts val="3611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570477"/>
              <a:ext cx="8192071" cy="1810210"/>
              <a:chOff x="0" y="0"/>
              <a:chExt cx="3038709" cy="671467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10558" y="0"/>
                <a:ext cx="3017592" cy="671467"/>
              </a:xfrm>
              <a:custGeom>
                <a:avLst/>
                <a:gdLst/>
                <a:ahLst/>
                <a:cxnLst/>
                <a:rect r="r" b="b" t="t" l="l"/>
                <a:pathLst>
                  <a:path h="671467" w="3017592">
                    <a:moveTo>
                      <a:pt x="233593" y="0"/>
                    </a:moveTo>
                    <a:lnTo>
                      <a:pt x="2783999" y="0"/>
                    </a:lnTo>
                    <a:cubicBezTo>
                      <a:pt x="2808318" y="0"/>
                      <a:pt x="2829769" y="15920"/>
                      <a:pt x="2836812" y="39196"/>
                    </a:cubicBezTo>
                    <a:lnTo>
                      <a:pt x="3016289" y="632271"/>
                    </a:lnTo>
                    <a:cubicBezTo>
                      <a:pt x="3019076" y="641478"/>
                      <a:pt x="3017338" y="651462"/>
                      <a:pt x="3011605" y="659187"/>
                    </a:cubicBezTo>
                    <a:cubicBezTo>
                      <a:pt x="3005872" y="666912"/>
                      <a:pt x="2996820" y="671467"/>
                      <a:pt x="2987199" y="671467"/>
                    </a:cubicBezTo>
                    <a:lnTo>
                      <a:pt x="30393" y="671467"/>
                    </a:lnTo>
                    <a:cubicBezTo>
                      <a:pt x="20773" y="671467"/>
                      <a:pt x="11721" y="666912"/>
                      <a:pt x="5988" y="659187"/>
                    </a:cubicBezTo>
                    <a:cubicBezTo>
                      <a:pt x="254" y="651462"/>
                      <a:pt x="-1483" y="641478"/>
                      <a:pt x="1304" y="632271"/>
                    </a:cubicBezTo>
                    <a:lnTo>
                      <a:pt x="180780" y="39196"/>
                    </a:lnTo>
                    <a:cubicBezTo>
                      <a:pt x="187824" y="15920"/>
                      <a:pt x="209275" y="0"/>
                      <a:pt x="233593" y="0"/>
                    </a:cubicBezTo>
                    <a:close/>
                  </a:path>
                </a:pathLst>
              </a:custGeom>
              <a:solidFill>
                <a:srgbClr val="63AF76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127000" y="-95250"/>
                <a:ext cx="2784709" cy="766717"/>
              </a:xfrm>
              <a:prstGeom prst="rect">
                <a:avLst/>
              </a:prstGeom>
            </p:spPr>
            <p:txBody>
              <a:bodyPr anchor="ctr" rtlCol="false" tIns="39078" lIns="39078" bIns="39078" rIns="39078"/>
              <a:lstStyle/>
              <a:p>
                <a:pPr algn="ctr" marL="0" indent="0" lvl="0">
                  <a:lnSpc>
                    <a:spcPts val="361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-5400000">
              <a:off x="14331785" y="-690436"/>
              <a:ext cx="2564159" cy="3945031"/>
              <a:chOff x="0" y="0"/>
              <a:chExt cx="306091" cy="470929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306091" cy="470929"/>
              </a:xfrm>
              <a:custGeom>
                <a:avLst/>
                <a:gdLst/>
                <a:ahLst/>
                <a:cxnLst/>
                <a:rect r="r" b="b" t="t" l="l"/>
                <a:pathLst>
                  <a:path h="470929" w="306091">
                    <a:moveTo>
                      <a:pt x="130833" y="0"/>
                    </a:moveTo>
                    <a:lnTo>
                      <a:pt x="175258" y="0"/>
                    </a:lnTo>
                    <a:cubicBezTo>
                      <a:pt x="209957" y="0"/>
                      <a:pt x="243235" y="13784"/>
                      <a:pt x="267771" y="38320"/>
                    </a:cubicBezTo>
                    <a:cubicBezTo>
                      <a:pt x="292307" y="62856"/>
                      <a:pt x="306091" y="96134"/>
                      <a:pt x="306091" y="130833"/>
                    </a:cubicBezTo>
                    <a:lnTo>
                      <a:pt x="306091" y="340096"/>
                    </a:lnTo>
                    <a:cubicBezTo>
                      <a:pt x="306091" y="412353"/>
                      <a:pt x="247515" y="470929"/>
                      <a:pt x="175258" y="470929"/>
                    </a:cubicBezTo>
                    <a:lnTo>
                      <a:pt x="130833" y="470929"/>
                    </a:lnTo>
                    <a:cubicBezTo>
                      <a:pt x="58576" y="470929"/>
                      <a:pt x="0" y="412353"/>
                      <a:pt x="0" y="340096"/>
                    </a:cubicBezTo>
                    <a:lnTo>
                      <a:pt x="0" y="130833"/>
                    </a:lnTo>
                    <a:cubicBezTo>
                      <a:pt x="0" y="58576"/>
                      <a:pt x="58576" y="0"/>
                      <a:pt x="130833" y="0"/>
                    </a:cubicBezTo>
                    <a:close/>
                  </a:path>
                </a:pathLst>
              </a:custGeom>
              <a:solidFill>
                <a:srgbClr val="73D48B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85725"/>
                <a:ext cx="306091" cy="5566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1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9696318" y="0"/>
              <a:ext cx="7890062" cy="2099083"/>
              <a:chOff x="0" y="0"/>
              <a:chExt cx="1427316" cy="37972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23867" y="0"/>
                <a:ext cx="1379582" cy="379725"/>
              </a:xfrm>
              <a:custGeom>
                <a:avLst/>
                <a:gdLst/>
                <a:ahLst/>
                <a:cxnLst/>
                <a:rect r="r" b="b" t="t" l="l"/>
                <a:pathLst>
                  <a:path h="379725" w="1379582">
                    <a:moveTo>
                      <a:pt x="238860" y="0"/>
                    </a:moveTo>
                    <a:lnTo>
                      <a:pt x="1140722" y="0"/>
                    </a:lnTo>
                    <a:cubicBezTo>
                      <a:pt x="1177370" y="0"/>
                      <a:pt x="1211043" y="20172"/>
                      <a:pt x="1228334" y="52484"/>
                    </a:cubicBezTo>
                    <a:lnTo>
                      <a:pt x="1375363" y="327241"/>
                    </a:lnTo>
                    <a:cubicBezTo>
                      <a:pt x="1381277" y="338292"/>
                      <a:pt x="1380954" y="351638"/>
                      <a:pt x="1374513" y="362391"/>
                    </a:cubicBezTo>
                    <a:cubicBezTo>
                      <a:pt x="1368071" y="373144"/>
                      <a:pt x="1356457" y="379725"/>
                      <a:pt x="1343922" y="379725"/>
                    </a:cubicBezTo>
                    <a:lnTo>
                      <a:pt x="35660" y="379725"/>
                    </a:lnTo>
                    <a:cubicBezTo>
                      <a:pt x="23125" y="379725"/>
                      <a:pt x="11511" y="373144"/>
                      <a:pt x="5069" y="362391"/>
                    </a:cubicBezTo>
                    <a:cubicBezTo>
                      <a:pt x="-1373" y="351638"/>
                      <a:pt x="-1695" y="338292"/>
                      <a:pt x="4219" y="327241"/>
                    </a:cubicBezTo>
                    <a:lnTo>
                      <a:pt x="151247" y="52484"/>
                    </a:lnTo>
                    <a:cubicBezTo>
                      <a:pt x="168539" y="20172"/>
                      <a:pt x="202212" y="0"/>
                      <a:pt x="238860" y="0"/>
                    </a:cubicBezTo>
                    <a:close/>
                  </a:path>
                </a:pathLst>
              </a:custGeom>
              <a:solidFill>
                <a:srgbClr val="73D48B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127000" y="-85725"/>
                <a:ext cx="1173316" cy="465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1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-5400000">
              <a:off x="-338516" y="2163316"/>
              <a:ext cx="18263412" cy="17586380"/>
              <a:chOff x="0" y="0"/>
              <a:chExt cx="2834153" cy="272909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834153" cy="2729090"/>
              </a:xfrm>
              <a:custGeom>
                <a:avLst/>
                <a:gdLst/>
                <a:ahLst/>
                <a:cxnLst/>
                <a:rect r="r" b="b" t="t" l="l"/>
                <a:pathLst>
                  <a:path h="2729090" w="2834153">
                    <a:moveTo>
                      <a:pt x="52902" y="0"/>
                    </a:moveTo>
                    <a:lnTo>
                      <a:pt x="2781251" y="0"/>
                    </a:lnTo>
                    <a:cubicBezTo>
                      <a:pt x="2810468" y="0"/>
                      <a:pt x="2834153" y="23685"/>
                      <a:pt x="2834153" y="52902"/>
                    </a:cubicBezTo>
                    <a:lnTo>
                      <a:pt x="2834153" y="2676188"/>
                    </a:lnTo>
                    <a:cubicBezTo>
                      <a:pt x="2834153" y="2705405"/>
                      <a:pt x="2810468" y="2729090"/>
                      <a:pt x="2781251" y="2729090"/>
                    </a:cubicBezTo>
                    <a:lnTo>
                      <a:pt x="52902" y="2729090"/>
                    </a:lnTo>
                    <a:cubicBezTo>
                      <a:pt x="23685" y="2729090"/>
                      <a:pt x="0" y="2705405"/>
                      <a:pt x="0" y="2676188"/>
                    </a:cubicBezTo>
                    <a:lnTo>
                      <a:pt x="0" y="52902"/>
                    </a:lnTo>
                    <a:cubicBezTo>
                      <a:pt x="0" y="23685"/>
                      <a:pt x="23685" y="0"/>
                      <a:pt x="52902" y="0"/>
                    </a:cubicBezTo>
                    <a:close/>
                  </a:path>
                </a:pathLst>
              </a:custGeom>
              <a:solidFill>
                <a:srgbClr val="73D48B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85725"/>
                <a:ext cx="2834153" cy="2814815"/>
              </a:xfrm>
              <a:prstGeom prst="rect">
                <a:avLst/>
              </a:prstGeom>
            </p:spPr>
            <p:txBody>
              <a:bodyPr anchor="ctr" rtlCol="false" tIns="39078" lIns="39078" bIns="39078" rIns="39078"/>
              <a:lstStyle/>
              <a:p>
                <a:pPr algn="ctr">
                  <a:lnSpc>
                    <a:spcPts val="3611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1237810" y="1031089"/>
              <a:ext cx="8458509" cy="793711"/>
              <a:chOff x="0" y="0"/>
              <a:chExt cx="1670816" cy="156782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670816" cy="156782"/>
              </a:xfrm>
              <a:custGeom>
                <a:avLst/>
                <a:gdLst/>
                <a:ahLst/>
                <a:cxnLst/>
                <a:rect r="r" b="b" t="t" l="l"/>
                <a:pathLst>
                  <a:path h="156782" w="1670816">
                    <a:moveTo>
                      <a:pt x="0" y="0"/>
                    </a:moveTo>
                    <a:lnTo>
                      <a:pt x="1670816" y="0"/>
                    </a:lnTo>
                    <a:lnTo>
                      <a:pt x="1670816" y="156782"/>
                    </a:lnTo>
                    <a:lnTo>
                      <a:pt x="0" y="15678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95250"/>
                <a:ext cx="1670816" cy="252032"/>
              </a:xfrm>
              <a:prstGeom prst="rect">
                <a:avLst/>
              </a:prstGeom>
            </p:spPr>
            <p:txBody>
              <a:bodyPr anchor="ctr" rtlCol="false" tIns="39078" lIns="39078" bIns="39078" rIns="39078"/>
              <a:lstStyle/>
              <a:p>
                <a:pPr algn="ctr">
                  <a:lnSpc>
                    <a:spcPts val="3611"/>
                  </a:lnSpc>
                </a:pPr>
              </a:p>
            </p:txBody>
          </p:sp>
        </p:grpSp>
      </p:grpSp>
      <p:sp>
        <p:nvSpPr>
          <p:cNvPr name="Freeform 27" id="27"/>
          <p:cNvSpPr/>
          <p:nvPr/>
        </p:nvSpPr>
        <p:spPr>
          <a:xfrm flipH="false" flipV="false" rot="0">
            <a:off x="588151" y="814766"/>
            <a:ext cx="1433306" cy="2671970"/>
          </a:xfrm>
          <a:custGeom>
            <a:avLst/>
            <a:gdLst/>
            <a:ahLst/>
            <a:cxnLst/>
            <a:rect r="r" b="b" t="t" l="l"/>
            <a:pathLst>
              <a:path h="2671970" w="1433306">
                <a:moveTo>
                  <a:pt x="0" y="0"/>
                </a:moveTo>
                <a:lnTo>
                  <a:pt x="1433306" y="0"/>
                </a:lnTo>
                <a:lnTo>
                  <a:pt x="1433306" y="2671970"/>
                </a:lnTo>
                <a:lnTo>
                  <a:pt x="0" y="2671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30933" t="0" r="0" b="-53998"/>
            </a:stretch>
          </a:blipFill>
          <a:ln cap="rnd">
            <a:noFill/>
            <a:prstDash val="solid"/>
            <a:round/>
          </a:ln>
        </p:spPr>
      </p:sp>
      <p:sp>
        <p:nvSpPr>
          <p:cNvPr name="Freeform 28" id="28"/>
          <p:cNvSpPr/>
          <p:nvPr/>
        </p:nvSpPr>
        <p:spPr>
          <a:xfrm flipH="false" flipV="false" rot="0">
            <a:off x="-774544" y="3807443"/>
            <a:ext cx="2079348" cy="2493256"/>
          </a:xfrm>
          <a:custGeom>
            <a:avLst/>
            <a:gdLst/>
            <a:ahLst/>
            <a:cxnLst/>
            <a:rect r="r" b="b" t="t" l="l"/>
            <a:pathLst>
              <a:path h="2493256" w="2079348">
                <a:moveTo>
                  <a:pt x="0" y="0"/>
                </a:moveTo>
                <a:lnTo>
                  <a:pt x="2079348" y="0"/>
                </a:lnTo>
                <a:lnTo>
                  <a:pt x="2079348" y="2493256"/>
                </a:lnTo>
                <a:lnTo>
                  <a:pt x="0" y="2493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3898" t="-65037" r="-74215" b="0"/>
            </a:stretch>
          </a:blipFill>
          <a:ln cap="rnd">
            <a:noFill/>
            <a:prstDash val="solid"/>
            <a:round/>
          </a:ln>
        </p:spPr>
      </p:sp>
      <p:sp>
        <p:nvSpPr>
          <p:cNvPr name="TextBox 29" id="29"/>
          <p:cNvSpPr txBox="true"/>
          <p:nvPr/>
        </p:nvSpPr>
        <p:spPr>
          <a:xfrm rot="0">
            <a:off x="2869149" y="3717825"/>
            <a:ext cx="12549702" cy="2739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66"/>
              </a:lnSpc>
            </a:pPr>
            <a:r>
              <a:rPr lang="en-US" sz="9523">
                <a:solidFill>
                  <a:srgbClr val="000000"/>
                </a:solidFill>
                <a:latin typeface="Zilla Slab"/>
                <a:ea typeface="Zilla Slab"/>
                <a:cs typeface="Zilla Slab"/>
                <a:sym typeface="Zilla Slab"/>
              </a:rPr>
              <a:t>DASHBOA</a:t>
            </a:r>
            <a:r>
              <a:rPr lang="en-US" sz="9523">
                <a:solidFill>
                  <a:srgbClr val="000000"/>
                </a:solidFill>
                <a:latin typeface="Zilla Slab"/>
                <a:ea typeface="Zilla Slab"/>
                <a:cs typeface="Zilla Slab"/>
                <a:sym typeface="Zilla Slab"/>
              </a:rPr>
              <a:t>RD DE GESTIÓN FINANCIERA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954857" y="7952020"/>
            <a:ext cx="2497261" cy="1656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9"/>
              </a:lnSpc>
              <a:spcBef>
                <a:spcPct val="0"/>
              </a:spcBef>
            </a:pPr>
            <a:r>
              <a:rPr lang="en-US" sz="189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Equipo de Trabajo:</a:t>
            </a:r>
          </a:p>
          <a:p>
            <a:pPr algn="l">
              <a:lnSpc>
                <a:spcPts val="2649"/>
              </a:lnSpc>
              <a:spcBef>
                <a:spcPct val="0"/>
              </a:spcBef>
            </a:pPr>
            <a:r>
              <a:rPr lang="en-US" sz="189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kevin dionicio</a:t>
            </a:r>
          </a:p>
          <a:p>
            <a:pPr algn="l">
              <a:lnSpc>
                <a:spcPts val="2649"/>
              </a:lnSpc>
              <a:spcBef>
                <a:spcPct val="0"/>
              </a:spcBef>
            </a:pPr>
            <a:r>
              <a:rPr lang="en-US" sz="189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Camilo Ponce</a:t>
            </a:r>
          </a:p>
          <a:p>
            <a:pPr algn="l">
              <a:lnSpc>
                <a:spcPts val="2649"/>
              </a:lnSpc>
              <a:spcBef>
                <a:spcPct val="0"/>
              </a:spcBef>
            </a:pPr>
            <a:r>
              <a:rPr lang="en-US" sz="189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Johan Huamanchumo</a:t>
            </a:r>
          </a:p>
          <a:p>
            <a:pPr algn="l">
              <a:lnSpc>
                <a:spcPts val="264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DD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5251" y="1028700"/>
            <a:ext cx="16137498" cy="9258300"/>
            <a:chOff x="0" y="0"/>
            <a:chExt cx="4250205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50205" cy="2438400"/>
            </a:xfrm>
            <a:custGeom>
              <a:avLst/>
              <a:gdLst/>
              <a:ahLst/>
              <a:cxnLst/>
              <a:rect r="r" b="b" t="t" l="l"/>
              <a:pathLst>
                <a:path h="2438400" w="4250205">
                  <a:moveTo>
                    <a:pt x="0" y="0"/>
                  </a:moveTo>
                  <a:lnTo>
                    <a:pt x="4250205" y="0"/>
                  </a:lnTo>
                  <a:lnTo>
                    <a:pt x="4250205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4250205" cy="2533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1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55936" y="4289138"/>
            <a:ext cx="7766209" cy="5997862"/>
            <a:chOff x="0" y="0"/>
            <a:chExt cx="10354945" cy="7997150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/>
            <a:srcRect l="0" t="31966" r="0" b="16675"/>
            <a:stretch>
              <a:fillRect/>
            </a:stretch>
          </p:blipFill>
          <p:spPr>
            <a:xfrm flipH="false" flipV="false">
              <a:off x="0" y="0"/>
              <a:ext cx="10354945" cy="7997150"/>
            </a:xfrm>
            <a:prstGeom prst="rect">
              <a:avLst/>
            </a:prstGeom>
          </p:spPr>
        </p:pic>
      </p:grpSp>
      <p:sp>
        <p:nvSpPr>
          <p:cNvPr name="Freeform 7" id="7"/>
          <p:cNvSpPr/>
          <p:nvPr/>
        </p:nvSpPr>
        <p:spPr>
          <a:xfrm flipH="false" flipV="false" rot="0">
            <a:off x="7315736" y="592202"/>
            <a:ext cx="3656528" cy="872996"/>
          </a:xfrm>
          <a:custGeom>
            <a:avLst/>
            <a:gdLst/>
            <a:ahLst/>
            <a:cxnLst/>
            <a:rect r="r" b="b" t="t" l="l"/>
            <a:pathLst>
              <a:path h="872996" w="3656528">
                <a:moveTo>
                  <a:pt x="0" y="0"/>
                </a:moveTo>
                <a:lnTo>
                  <a:pt x="3656528" y="0"/>
                </a:lnTo>
                <a:lnTo>
                  <a:pt x="3656528" y="872996"/>
                </a:lnTo>
                <a:lnTo>
                  <a:pt x="0" y="8729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939882" y="2089299"/>
            <a:ext cx="12408235" cy="1661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857"/>
              </a:lnSpc>
              <a:spcBef>
                <a:spcPct val="0"/>
              </a:spcBef>
            </a:pPr>
            <a:r>
              <a:rPr lang="en-US" sz="11479">
                <a:solidFill>
                  <a:srgbClr val="000000"/>
                </a:solidFill>
                <a:latin typeface="Zilla Slab"/>
                <a:ea typeface="Zilla Slab"/>
                <a:cs typeface="Zilla Slab"/>
                <a:sym typeface="Zilla Slab"/>
              </a:rPr>
              <a:t>P</a:t>
            </a:r>
            <a:r>
              <a:rPr lang="en-US" sz="11479" strike="noStrike" u="none">
                <a:solidFill>
                  <a:srgbClr val="000000"/>
                </a:solidFill>
                <a:latin typeface="Zilla Slab"/>
                <a:ea typeface="Zilla Slab"/>
                <a:cs typeface="Zilla Slab"/>
                <a:sym typeface="Zilla Slab"/>
              </a:rPr>
              <a:t>ROBLEMA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64085" y="5062500"/>
            <a:ext cx="5903927" cy="3889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4"/>
              </a:lnSpc>
            </a:pPr>
            <a:r>
              <a:rPr lang="en-US" sz="2248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L</a:t>
            </a:r>
            <a:r>
              <a:rPr lang="en-US" sz="2248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os trabajadores independientes y las pequeñas empresas categorizan sus movimientos bancarios de forma manual. Esto genera dos fallas operativas: alta probabilidad de error humano y pérdida de tiempo en tareas contables que no agregan valor.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E1DD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8409757" y="2343674"/>
            <a:ext cx="3697294" cy="619375"/>
            <a:chOff x="0" y="0"/>
            <a:chExt cx="4008250" cy="671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08250" cy="671467"/>
            </a:xfrm>
            <a:custGeom>
              <a:avLst/>
              <a:gdLst/>
              <a:ahLst/>
              <a:cxnLst/>
              <a:rect r="r" b="b" t="t" l="l"/>
              <a:pathLst>
                <a:path h="671467" w="4008250">
                  <a:moveTo>
                    <a:pt x="203200" y="0"/>
                  </a:moveTo>
                  <a:lnTo>
                    <a:pt x="3805050" y="0"/>
                  </a:lnTo>
                  <a:lnTo>
                    <a:pt x="4008250" y="671467"/>
                  </a:lnTo>
                  <a:lnTo>
                    <a:pt x="0" y="67146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73D48B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27000" y="-95250"/>
              <a:ext cx="3754250" cy="7667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1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0076" y="804714"/>
            <a:ext cx="9288641" cy="10362014"/>
            <a:chOff x="0" y="0"/>
            <a:chExt cx="2446391" cy="27290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46391" cy="2729090"/>
            </a:xfrm>
            <a:custGeom>
              <a:avLst/>
              <a:gdLst/>
              <a:ahLst/>
              <a:cxnLst/>
              <a:rect r="r" b="b" t="t" l="l"/>
              <a:pathLst>
                <a:path h="2729090" w="2446391">
                  <a:moveTo>
                    <a:pt x="0" y="0"/>
                  </a:moveTo>
                  <a:lnTo>
                    <a:pt x="2446391" y="0"/>
                  </a:lnTo>
                  <a:lnTo>
                    <a:pt x="2446391" y="2729090"/>
                  </a:lnTo>
                  <a:lnTo>
                    <a:pt x="0" y="272909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2446391" cy="2824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11"/>
                </a:lnSpc>
              </a:pP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621976" y="804714"/>
          <a:ext cx="9326741" cy="11309335"/>
        </p:xfrm>
        <a:graphic>
          <a:graphicData uri="http://schemas.openxmlformats.org/drawingml/2006/table">
            <a:tbl>
              <a:tblPr/>
              <a:tblGrid>
                <a:gridCol w="2457076"/>
                <a:gridCol w="6869665"/>
              </a:tblGrid>
              <a:tr h="1858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endParaRPr lang="en-US" sz="1100"/>
                    </a:p>
                  </a:txBody>
                  <a:tcPr marL="244156" marR="244156" marT="244156" marB="244156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8831">
                      <a:solidFill>
                        <a:srgbClr val="73D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88"/>
                        </a:lnSpc>
                        <a:defRPr/>
                      </a:pPr>
                      <a:r>
                        <a:rPr lang="en-US" sz="2563">
                          <a:solidFill>
                            <a:srgbClr val="000000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Conexión a la API de Banco de Chile para extraer cartolas en tiempo real.</a:t>
                      </a:r>
                      <a:endParaRPr lang="en-US" sz="1100"/>
                    </a:p>
                    <a:p>
                      <a:pPr algn="ctr">
                        <a:lnSpc>
                          <a:spcPts val="3588"/>
                        </a:lnSpc>
                      </a:pPr>
                    </a:p>
                  </a:txBody>
                  <a:tcPr marL="244156" marR="244156" marT="244156" marB="244156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8831">
                      <a:solidFill>
                        <a:srgbClr val="73D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194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endParaRPr lang="en-US" sz="1100"/>
                    </a:p>
                  </a:txBody>
                  <a:tcPr marL="244156" marR="244156" marT="244156" marB="244156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8831">
                      <a:solidFill>
                        <a:srgbClr val="73D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8831">
                      <a:solidFill>
                        <a:srgbClr val="73D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88"/>
                        </a:lnSpc>
                        <a:defRPr/>
                      </a:pPr>
                      <a:r>
                        <a:rPr lang="en-US" sz="2563">
                          <a:solidFill>
                            <a:srgbClr val="000000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Clasificación automática de cada transacción mediante NLP, en 4 categorías (ingreso de negocio, ingreso personal, gasto operacional, gasto personal), sin intervención del usuario.</a:t>
                      </a:r>
                      <a:endParaRPr lang="en-US" sz="1100"/>
                    </a:p>
                    <a:p>
                      <a:pPr algn="ctr">
                        <a:lnSpc>
                          <a:spcPts val="3588"/>
                        </a:lnSpc>
                      </a:pPr>
                    </a:p>
                  </a:txBody>
                  <a:tcPr marL="244156" marR="244156" marT="244156" marB="244156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8831">
                      <a:solidFill>
                        <a:srgbClr val="73D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8831">
                      <a:solidFill>
                        <a:srgbClr val="73D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241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endParaRPr lang="en-US" sz="1100"/>
                    </a:p>
                  </a:txBody>
                  <a:tcPr marL="244156" marR="244156" marT="244156" marB="244156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8831">
                      <a:solidFill>
                        <a:srgbClr val="73D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8831">
                      <a:solidFill>
                        <a:srgbClr val="73D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88"/>
                        </a:lnSpc>
                        <a:defRPr/>
                      </a:pPr>
                      <a:r>
                        <a:rPr lang="en-US" sz="2563">
                          <a:solidFill>
                            <a:srgbClr val="000000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Modelo predictivo de series temporales que proyecta el flujo de caja futuro y alerta sobre riesgo de baja liquidez.</a:t>
                      </a:r>
                      <a:endParaRPr lang="en-US" sz="1100"/>
                    </a:p>
                    <a:p>
                      <a:pPr algn="ctr">
                        <a:lnSpc>
                          <a:spcPts val="3588"/>
                        </a:lnSpc>
                      </a:pPr>
                    </a:p>
                  </a:txBody>
                  <a:tcPr marL="244156" marR="244156" marT="244156" marB="244156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8831">
                      <a:solidFill>
                        <a:srgbClr val="73D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8831">
                      <a:solidFill>
                        <a:srgbClr val="73D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4928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endParaRPr lang="en-US" sz="1100"/>
                    </a:p>
                  </a:txBody>
                  <a:tcPr marL="244156" marR="244156" marT="244156" marB="244156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8831">
                      <a:solidFill>
                        <a:srgbClr val="73D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8831">
                      <a:solidFill>
                        <a:srgbClr val="73D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88"/>
                        </a:lnSpc>
                        <a:defRPr/>
                      </a:pPr>
                      <a:r>
                        <a:rPr lang="en-US" sz="2563">
                          <a:solidFill>
                            <a:srgbClr val="000000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Resultado: entrega analítica financiera de nivel empresarial a un segmento que hoy no tiene acceso a esa herramienta.</a:t>
                      </a:r>
                      <a:endParaRPr lang="en-US" sz="1100"/>
                    </a:p>
                  </a:txBody>
                  <a:tcPr marL="244156" marR="244156" marT="244156" marB="244156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8831">
                      <a:solidFill>
                        <a:srgbClr val="73D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8831">
                      <a:solidFill>
                        <a:srgbClr val="73D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58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true">
                          <a:solidFill>
                            <a:srgbClr val="000000"/>
                          </a:solidFill>
                          <a:latin typeface="Zilla Slab Bold"/>
                          <a:ea typeface="Zilla Slab Bold"/>
                          <a:cs typeface="Zilla Slab Bold"/>
                          <a:sym typeface="Zilla Slab Bold"/>
                        </a:rPr>
                        <a:t>Fri</a:t>
                      </a:r>
                      <a:endParaRPr lang="en-US" sz="1100"/>
                    </a:p>
                  </a:txBody>
                  <a:tcPr marL="244156" marR="244156" marT="244156" marB="244156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8831">
                      <a:solidFill>
                        <a:srgbClr val="73D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588"/>
                        </a:lnSpc>
                        <a:defRPr/>
                      </a:pPr>
                      <a:r>
                        <a:rPr lang="en-US" sz="2563">
                          <a:solidFill>
                            <a:srgbClr val="000000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Special Assemblies and Club Fair</a:t>
                      </a:r>
                      <a:endParaRPr lang="en-US" sz="1100"/>
                    </a:p>
                  </a:txBody>
                  <a:tcPr marL="244156" marR="244156" marT="244156" marB="244156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8831">
                      <a:solidFill>
                        <a:srgbClr val="73D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10808952" y="3868377"/>
            <a:ext cx="6450348" cy="2616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29"/>
              </a:lnSpc>
            </a:pPr>
            <a:r>
              <a:rPr lang="en-US" sz="9133">
                <a:solidFill>
                  <a:srgbClr val="000000"/>
                </a:solidFill>
                <a:latin typeface="Zilla Slab"/>
                <a:ea typeface="Zilla Slab"/>
                <a:cs typeface="Zilla Slab"/>
                <a:sym typeface="Zilla Slab"/>
              </a:rPr>
              <a:t>SOLUCIÓN  IMPACTO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DD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5251" y="652365"/>
            <a:ext cx="16137498" cy="9634635"/>
            <a:chOff x="0" y="0"/>
            <a:chExt cx="4250205" cy="25375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50205" cy="2537517"/>
            </a:xfrm>
            <a:custGeom>
              <a:avLst/>
              <a:gdLst/>
              <a:ahLst/>
              <a:cxnLst/>
              <a:rect r="r" b="b" t="t" l="l"/>
              <a:pathLst>
                <a:path h="2537517" w="4250205">
                  <a:moveTo>
                    <a:pt x="0" y="0"/>
                  </a:moveTo>
                  <a:lnTo>
                    <a:pt x="4250205" y="0"/>
                  </a:lnTo>
                  <a:lnTo>
                    <a:pt x="4250205" y="2537517"/>
                  </a:lnTo>
                  <a:lnTo>
                    <a:pt x="0" y="253751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4250205" cy="2632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1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191436" y="3399842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D48B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1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851332" y="3399842"/>
            <a:ext cx="3086100" cy="308610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D48B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11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845070" y="1028700"/>
            <a:ext cx="14597861" cy="532510"/>
            <a:chOff x="0" y="0"/>
            <a:chExt cx="19463815" cy="710013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710013" cy="710013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1DDC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11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7814084" y="0"/>
              <a:ext cx="710013" cy="710013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1DDC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11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562817" y="0"/>
              <a:ext cx="710013" cy="710013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1DDC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11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9376901" y="0"/>
              <a:ext cx="710013" cy="710013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1DDC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11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3125634" y="0"/>
              <a:ext cx="710013" cy="710013"/>
              <a:chOff x="0" y="0"/>
              <a:chExt cx="812800" cy="812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1DDC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11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10939717" y="0"/>
              <a:ext cx="710013" cy="710013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1DDC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11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4688450" y="0"/>
              <a:ext cx="710013" cy="710013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1DDC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11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12502534" y="0"/>
              <a:ext cx="710013" cy="710013"/>
              <a:chOff x="0" y="0"/>
              <a:chExt cx="812800" cy="8128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1DDC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11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6251267" y="0"/>
              <a:ext cx="710013" cy="710013"/>
              <a:chOff x="0" y="0"/>
              <a:chExt cx="812800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1DDC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11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14065351" y="0"/>
              <a:ext cx="710013" cy="710013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1DDC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11"/>
                  </a:lnSpc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18753801" y="0"/>
              <a:ext cx="710013" cy="710013"/>
              <a:chOff x="0" y="0"/>
              <a:chExt cx="812800" cy="8128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1DDC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11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17190984" y="0"/>
              <a:ext cx="710013" cy="710013"/>
              <a:chOff x="0" y="0"/>
              <a:chExt cx="812800" cy="8128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1DDC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11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15628168" y="0"/>
              <a:ext cx="710013" cy="710013"/>
              <a:chOff x="0" y="0"/>
              <a:chExt cx="812800" cy="81280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1DDC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76200" y="-19050"/>
                <a:ext cx="660400" cy="7556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11"/>
                  </a:lnSpc>
                </a:pPr>
              </a:p>
            </p:txBody>
          </p:sp>
        </p:grpSp>
      </p:grpSp>
      <p:sp>
        <p:nvSpPr>
          <p:cNvPr name="Freeform 51" id="51"/>
          <p:cNvSpPr/>
          <p:nvPr/>
        </p:nvSpPr>
        <p:spPr>
          <a:xfrm flipH="false" flipV="false" rot="0">
            <a:off x="5445948" y="3990402"/>
            <a:ext cx="1896867" cy="1896867"/>
          </a:xfrm>
          <a:custGeom>
            <a:avLst/>
            <a:gdLst/>
            <a:ahLst/>
            <a:cxnLst/>
            <a:rect r="r" b="b" t="t" l="l"/>
            <a:pathLst>
              <a:path h="1896867" w="1896867">
                <a:moveTo>
                  <a:pt x="0" y="0"/>
                </a:moveTo>
                <a:lnTo>
                  <a:pt x="1896868" y="0"/>
                </a:lnTo>
                <a:lnTo>
                  <a:pt x="1896868" y="1896868"/>
                </a:lnTo>
                <a:lnTo>
                  <a:pt x="0" y="1896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1682969" y="3897834"/>
            <a:ext cx="2103034" cy="2082004"/>
          </a:xfrm>
          <a:custGeom>
            <a:avLst/>
            <a:gdLst/>
            <a:ahLst/>
            <a:cxnLst/>
            <a:rect r="r" b="b" t="t" l="l"/>
            <a:pathLst>
              <a:path h="2082004" w="2103034">
                <a:moveTo>
                  <a:pt x="0" y="0"/>
                </a:moveTo>
                <a:lnTo>
                  <a:pt x="2103034" y="0"/>
                </a:lnTo>
                <a:lnTo>
                  <a:pt x="2103034" y="2082004"/>
                </a:lnTo>
                <a:lnTo>
                  <a:pt x="0" y="20820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3" id="53"/>
          <p:cNvSpPr txBox="true"/>
          <p:nvPr/>
        </p:nvSpPr>
        <p:spPr>
          <a:xfrm rot="0">
            <a:off x="4733090" y="6636033"/>
            <a:ext cx="3322584" cy="901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1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Ingeniería de Sof</a:t>
            </a:r>
            <a:r>
              <a:rPr lang="en-US" b="true" sz="2300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tware y Conectividad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1410721" y="6636033"/>
            <a:ext cx="3103608" cy="901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1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Cie</a:t>
            </a:r>
            <a:r>
              <a:rPr lang="en-US" b="true" sz="2300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ncia de Datos e IA Aplicada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75251" y="1877538"/>
            <a:ext cx="16137498" cy="1022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89"/>
              </a:lnSpc>
              <a:spcBef>
                <a:spcPct val="0"/>
              </a:spcBef>
            </a:pPr>
            <a:r>
              <a:rPr lang="en-US" sz="7905">
                <a:solidFill>
                  <a:srgbClr val="000000"/>
                </a:solidFill>
                <a:latin typeface="Zilla Slab"/>
                <a:ea typeface="Zilla Slab"/>
                <a:cs typeface="Zilla Slab"/>
                <a:sym typeface="Zilla Slab"/>
              </a:rPr>
              <a:t>Alin</a:t>
            </a:r>
            <a:r>
              <a:rPr lang="en-US" sz="7905" strike="noStrike" u="none">
                <a:solidFill>
                  <a:srgbClr val="000000"/>
                </a:solidFill>
                <a:latin typeface="Zilla Slab"/>
                <a:ea typeface="Zilla Slab"/>
                <a:cs typeface="Zilla Slab"/>
                <a:sym typeface="Zilla Slab"/>
              </a:rPr>
              <a:t>eación con el Perfil de Egreso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4370245" y="7823356"/>
            <a:ext cx="4048274" cy="1482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82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c</a:t>
            </a:r>
            <a:r>
              <a:rPr lang="en-US" sz="1899" strike="noStrike" u="none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onsumo de APIs bajo protocolos seguros (OAuth 2.0 / REST), demostrando integración de sistemas distribuidos heterogéneos.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907222" y="7637619"/>
            <a:ext cx="4110607" cy="1853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2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aplicación de modelos de Machine Learning (representaciones vectoriales de texto, clasificadores supervisados) y algoritmos de series de tiempo para predicción.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DD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8041" y="2836543"/>
            <a:ext cx="4791172" cy="6916391"/>
            <a:chOff x="0" y="0"/>
            <a:chExt cx="1211081" cy="1748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1081" cy="1748280"/>
            </a:xfrm>
            <a:custGeom>
              <a:avLst/>
              <a:gdLst/>
              <a:ahLst/>
              <a:cxnLst/>
              <a:rect r="r" b="b" t="t" l="l"/>
              <a:pathLst>
                <a:path h="1748280" w="1211081">
                  <a:moveTo>
                    <a:pt x="40397" y="0"/>
                  </a:moveTo>
                  <a:lnTo>
                    <a:pt x="1170684" y="0"/>
                  </a:lnTo>
                  <a:cubicBezTo>
                    <a:pt x="1192995" y="0"/>
                    <a:pt x="1211081" y="18086"/>
                    <a:pt x="1211081" y="40397"/>
                  </a:cubicBezTo>
                  <a:lnTo>
                    <a:pt x="1211081" y="1707884"/>
                  </a:lnTo>
                  <a:cubicBezTo>
                    <a:pt x="1211081" y="1730194"/>
                    <a:pt x="1192995" y="1748280"/>
                    <a:pt x="1170684" y="1748280"/>
                  </a:cubicBezTo>
                  <a:lnTo>
                    <a:pt x="40397" y="1748280"/>
                  </a:lnTo>
                  <a:cubicBezTo>
                    <a:pt x="18086" y="1748280"/>
                    <a:pt x="0" y="1730194"/>
                    <a:pt x="0" y="1707884"/>
                  </a:cubicBezTo>
                  <a:lnTo>
                    <a:pt x="0" y="40397"/>
                  </a:lnTo>
                  <a:cubicBezTo>
                    <a:pt x="0" y="18086"/>
                    <a:pt x="18086" y="0"/>
                    <a:pt x="40397" y="0"/>
                  </a:cubicBezTo>
                  <a:close/>
                </a:path>
              </a:pathLst>
            </a:custGeom>
            <a:solidFill>
              <a:srgbClr val="BDB7A3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1211081" cy="1843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1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938296" y="2836543"/>
            <a:ext cx="4791172" cy="6916391"/>
            <a:chOff x="0" y="0"/>
            <a:chExt cx="1211081" cy="1748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11081" cy="1748280"/>
            </a:xfrm>
            <a:custGeom>
              <a:avLst/>
              <a:gdLst/>
              <a:ahLst/>
              <a:cxnLst/>
              <a:rect r="r" b="b" t="t" l="l"/>
              <a:pathLst>
                <a:path h="1748280" w="1211081">
                  <a:moveTo>
                    <a:pt x="40397" y="0"/>
                  </a:moveTo>
                  <a:lnTo>
                    <a:pt x="1170684" y="0"/>
                  </a:lnTo>
                  <a:cubicBezTo>
                    <a:pt x="1192995" y="0"/>
                    <a:pt x="1211081" y="18086"/>
                    <a:pt x="1211081" y="40397"/>
                  </a:cubicBezTo>
                  <a:lnTo>
                    <a:pt x="1211081" y="1707884"/>
                  </a:lnTo>
                  <a:cubicBezTo>
                    <a:pt x="1211081" y="1730194"/>
                    <a:pt x="1192995" y="1748280"/>
                    <a:pt x="1170684" y="1748280"/>
                  </a:cubicBezTo>
                  <a:lnTo>
                    <a:pt x="40397" y="1748280"/>
                  </a:lnTo>
                  <a:cubicBezTo>
                    <a:pt x="18086" y="1748280"/>
                    <a:pt x="0" y="1730194"/>
                    <a:pt x="0" y="1707884"/>
                  </a:cubicBezTo>
                  <a:lnTo>
                    <a:pt x="0" y="40397"/>
                  </a:lnTo>
                  <a:cubicBezTo>
                    <a:pt x="0" y="18086"/>
                    <a:pt x="18086" y="0"/>
                    <a:pt x="40397" y="0"/>
                  </a:cubicBezTo>
                  <a:close/>
                </a:path>
              </a:pathLst>
            </a:custGeom>
            <a:solidFill>
              <a:srgbClr val="BDB7A3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1211081" cy="1843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1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598552" y="2836543"/>
            <a:ext cx="4791172" cy="6916391"/>
            <a:chOff x="0" y="0"/>
            <a:chExt cx="1211081" cy="1748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11081" cy="1748280"/>
            </a:xfrm>
            <a:custGeom>
              <a:avLst/>
              <a:gdLst/>
              <a:ahLst/>
              <a:cxnLst/>
              <a:rect r="r" b="b" t="t" l="l"/>
              <a:pathLst>
                <a:path h="1748280" w="1211081">
                  <a:moveTo>
                    <a:pt x="40397" y="0"/>
                  </a:moveTo>
                  <a:lnTo>
                    <a:pt x="1170684" y="0"/>
                  </a:lnTo>
                  <a:cubicBezTo>
                    <a:pt x="1192995" y="0"/>
                    <a:pt x="1211081" y="18086"/>
                    <a:pt x="1211081" y="40397"/>
                  </a:cubicBezTo>
                  <a:lnTo>
                    <a:pt x="1211081" y="1707884"/>
                  </a:lnTo>
                  <a:cubicBezTo>
                    <a:pt x="1211081" y="1730194"/>
                    <a:pt x="1192995" y="1748280"/>
                    <a:pt x="1170684" y="1748280"/>
                  </a:cubicBezTo>
                  <a:lnTo>
                    <a:pt x="40397" y="1748280"/>
                  </a:lnTo>
                  <a:cubicBezTo>
                    <a:pt x="18086" y="1748280"/>
                    <a:pt x="0" y="1730194"/>
                    <a:pt x="0" y="1707884"/>
                  </a:cubicBezTo>
                  <a:lnTo>
                    <a:pt x="0" y="40397"/>
                  </a:lnTo>
                  <a:cubicBezTo>
                    <a:pt x="0" y="18086"/>
                    <a:pt x="18086" y="0"/>
                    <a:pt x="40397" y="0"/>
                  </a:cubicBezTo>
                  <a:close/>
                </a:path>
              </a:pathLst>
            </a:custGeom>
            <a:solidFill>
              <a:srgbClr val="BDB7A3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0"/>
              <a:ext cx="1211081" cy="1843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1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88159" y="2631297"/>
            <a:ext cx="4791172" cy="6916391"/>
            <a:chOff x="0" y="0"/>
            <a:chExt cx="1211081" cy="1748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11081" cy="1748280"/>
            </a:xfrm>
            <a:custGeom>
              <a:avLst/>
              <a:gdLst/>
              <a:ahLst/>
              <a:cxnLst/>
              <a:rect r="r" b="b" t="t" l="l"/>
              <a:pathLst>
                <a:path h="1748280" w="1211081">
                  <a:moveTo>
                    <a:pt x="0" y="0"/>
                  </a:moveTo>
                  <a:lnTo>
                    <a:pt x="1211081" y="0"/>
                  </a:lnTo>
                  <a:lnTo>
                    <a:pt x="1211081" y="1748280"/>
                  </a:lnTo>
                  <a:lnTo>
                    <a:pt x="0" y="17482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0"/>
              <a:ext cx="1211081" cy="1843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11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748414" y="2631297"/>
            <a:ext cx="4791172" cy="6916391"/>
            <a:chOff x="0" y="0"/>
            <a:chExt cx="1211081" cy="1748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11081" cy="1748280"/>
            </a:xfrm>
            <a:custGeom>
              <a:avLst/>
              <a:gdLst/>
              <a:ahLst/>
              <a:cxnLst/>
              <a:rect r="r" b="b" t="t" l="l"/>
              <a:pathLst>
                <a:path h="1748280" w="1211081">
                  <a:moveTo>
                    <a:pt x="0" y="0"/>
                  </a:moveTo>
                  <a:lnTo>
                    <a:pt x="1211081" y="0"/>
                  </a:lnTo>
                  <a:lnTo>
                    <a:pt x="1211081" y="1748280"/>
                  </a:lnTo>
                  <a:lnTo>
                    <a:pt x="0" y="17482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0"/>
              <a:ext cx="1211081" cy="1843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11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408670" y="2631297"/>
            <a:ext cx="4791172" cy="6916391"/>
            <a:chOff x="0" y="0"/>
            <a:chExt cx="1211081" cy="17482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11081" cy="1748280"/>
            </a:xfrm>
            <a:custGeom>
              <a:avLst/>
              <a:gdLst/>
              <a:ahLst/>
              <a:cxnLst/>
              <a:rect r="r" b="b" t="t" l="l"/>
              <a:pathLst>
                <a:path h="1748280" w="1211081">
                  <a:moveTo>
                    <a:pt x="0" y="0"/>
                  </a:moveTo>
                  <a:lnTo>
                    <a:pt x="1211081" y="0"/>
                  </a:lnTo>
                  <a:lnTo>
                    <a:pt x="1211081" y="1748280"/>
                  </a:lnTo>
                  <a:lnTo>
                    <a:pt x="0" y="17482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0"/>
              <a:ext cx="1211081" cy="1843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11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822453" y="3464511"/>
            <a:ext cx="3357977" cy="3357977"/>
          </a:xfrm>
          <a:custGeom>
            <a:avLst/>
            <a:gdLst/>
            <a:ahLst/>
            <a:cxnLst/>
            <a:rect r="r" b="b" t="t" l="l"/>
            <a:pathLst>
              <a:path h="3357977" w="3357977">
                <a:moveTo>
                  <a:pt x="0" y="0"/>
                </a:moveTo>
                <a:lnTo>
                  <a:pt x="3357977" y="0"/>
                </a:lnTo>
                <a:lnTo>
                  <a:pt x="3357977" y="3357978"/>
                </a:lnTo>
                <a:lnTo>
                  <a:pt x="0" y="33579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7910283" y="3759757"/>
            <a:ext cx="2657316" cy="2657316"/>
          </a:xfrm>
          <a:custGeom>
            <a:avLst/>
            <a:gdLst/>
            <a:ahLst/>
            <a:cxnLst/>
            <a:rect r="r" b="b" t="t" l="l"/>
            <a:pathLst>
              <a:path h="2657316" w="2657316">
                <a:moveTo>
                  <a:pt x="0" y="0"/>
                </a:moveTo>
                <a:lnTo>
                  <a:pt x="2657316" y="0"/>
                </a:lnTo>
                <a:lnTo>
                  <a:pt x="2657316" y="2657316"/>
                </a:lnTo>
                <a:lnTo>
                  <a:pt x="0" y="26573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3458811" y="3996970"/>
            <a:ext cx="3070653" cy="2917121"/>
          </a:xfrm>
          <a:custGeom>
            <a:avLst/>
            <a:gdLst/>
            <a:ahLst/>
            <a:cxnLst/>
            <a:rect r="r" b="b" t="t" l="l"/>
            <a:pathLst>
              <a:path h="2917121" w="3070653">
                <a:moveTo>
                  <a:pt x="0" y="0"/>
                </a:moveTo>
                <a:lnTo>
                  <a:pt x="3070653" y="0"/>
                </a:lnTo>
                <a:lnTo>
                  <a:pt x="3070653" y="2917121"/>
                </a:lnTo>
                <a:lnTo>
                  <a:pt x="0" y="29171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510481" y="927899"/>
            <a:ext cx="15135608" cy="11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48"/>
              </a:lnSpc>
              <a:spcBef>
                <a:spcPct val="0"/>
              </a:spcBef>
            </a:pPr>
            <a:r>
              <a:rPr lang="en-US" sz="8591">
                <a:solidFill>
                  <a:srgbClr val="000000"/>
                </a:solidFill>
                <a:latin typeface="Zilla Slab"/>
                <a:ea typeface="Zilla Slab"/>
                <a:cs typeface="Zilla Slab"/>
                <a:sym typeface="Zilla Slab"/>
              </a:rPr>
              <a:t>Viabilidad Técnica y Temporal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523" y="7618727"/>
            <a:ext cx="3683666" cy="1853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2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Servid</a:t>
            </a:r>
            <a:r>
              <a:rPr lang="en-US" sz="1899" strike="noStrike" u="none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or local que simula los endpoints y estructura JSON de Banco de Chile, evitando la dependencia de acceso a producción.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302167" y="7618727"/>
            <a:ext cx="3683666" cy="1482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82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Pyth</a:t>
            </a:r>
            <a:r>
              <a:rPr lang="en-US" sz="1899" strike="noStrike" u="none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on (Scikit-Learn, Statsmodels) para los modelos de IA; React/Node.js para el desarrollo web ágil.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962423" y="7618727"/>
            <a:ext cx="3683666" cy="1110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82"/>
              </a:lnSpc>
              <a:spcBef>
                <a:spcPct val="0"/>
              </a:spcBef>
            </a:pPr>
            <a:r>
              <a:rPr lang="en-US" sz="1899" strike="noStrike" u="none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 4 categorías financieras fijas + proyección a 4 semanas, dentro del plazo de la asignatura.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822453" y="7133684"/>
            <a:ext cx="3322584" cy="444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1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Sandbox</a:t>
            </a:r>
            <a:r>
              <a:rPr lang="en-US" b="true" sz="2300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 / Mock API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577649" y="7133684"/>
            <a:ext cx="3322584" cy="444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1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Sta</a:t>
            </a:r>
            <a:r>
              <a:rPr lang="en-US" b="true" sz="2300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ck probado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234418" y="7133684"/>
            <a:ext cx="3322584" cy="444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1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MVP acotad</a:t>
            </a:r>
            <a:r>
              <a:rPr lang="en-US" b="true" sz="2300">
                <a:solidFill>
                  <a:srgbClr val="000000"/>
                </a:solidFill>
                <a:latin typeface="Ubuntu Bold"/>
                <a:ea typeface="Ubuntu Bold"/>
                <a:cs typeface="Ubuntu Bold"/>
                <a:sym typeface="Ubuntu Bold"/>
              </a:rPr>
              <a:t>o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E1DD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236915">
            <a:off x="15734828" y="-2355413"/>
            <a:ext cx="3800011" cy="5074012"/>
            <a:chOff x="0" y="0"/>
            <a:chExt cx="960542" cy="12825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0542" cy="1282576"/>
            </a:xfrm>
            <a:custGeom>
              <a:avLst/>
              <a:gdLst/>
              <a:ahLst/>
              <a:cxnLst/>
              <a:rect r="r" b="b" t="t" l="l"/>
              <a:pathLst>
                <a:path h="1282576" w="960542">
                  <a:moveTo>
                    <a:pt x="0" y="0"/>
                  </a:moveTo>
                  <a:lnTo>
                    <a:pt x="960542" y="0"/>
                  </a:lnTo>
                  <a:lnTo>
                    <a:pt x="960542" y="1282576"/>
                  </a:lnTo>
                  <a:lnTo>
                    <a:pt x="0" y="128257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960542" cy="13778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1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236915">
            <a:off x="16314009" y="-751588"/>
            <a:ext cx="2334702" cy="2674091"/>
            <a:chOff x="0" y="0"/>
            <a:chExt cx="590151" cy="67593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0151" cy="675939"/>
            </a:xfrm>
            <a:custGeom>
              <a:avLst/>
              <a:gdLst/>
              <a:ahLst/>
              <a:cxnLst/>
              <a:rect r="r" b="b" t="t" l="l"/>
              <a:pathLst>
                <a:path h="675939" w="590151">
                  <a:moveTo>
                    <a:pt x="0" y="0"/>
                  </a:moveTo>
                  <a:lnTo>
                    <a:pt x="590151" y="0"/>
                  </a:lnTo>
                  <a:lnTo>
                    <a:pt x="590151" y="675939"/>
                  </a:lnTo>
                  <a:lnTo>
                    <a:pt x="0" y="675939"/>
                  </a:lnTo>
                  <a:close/>
                </a:path>
              </a:pathLst>
            </a:custGeom>
            <a:solidFill>
              <a:srgbClr val="E1DDCE">
                <a:alpha val="53725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590151" cy="7711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1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387994" y="5143500"/>
            <a:ext cx="1900006" cy="5143500"/>
            <a:chOff x="0" y="0"/>
            <a:chExt cx="480271" cy="13001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0271" cy="1300141"/>
            </a:xfrm>
            <a:custGeom>
              <a:avLst/>
              <a:gdLst/>
              <a:ahLst/>
              <a:cxnLst/>
              <a:rect r="r" b="b" t="t" l="l"/>
              <a:pathLst>
                <a:path h="1300141" w="480271">
                  <a:moveTo>
                    <a:pt x="0" y="0"/>
                  </a:moveTo>
                  <a:lnTo>
                    <a:pt x="480271" y="0"/>
                  </a:lnTo>
                  <a:lnTo>
                    <a:pt x="480271" y="1300141"/>
                  </a:lnTo>
                  <a:lnTo>
                    <a:pt x="0" y="130014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0"/>
              <a:ext cx="480271" cy="13953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11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95616" y="1642734"/>
            <a:ext cx="13937880" cy="20532883"/>
            <a:chOff x="0" y="0"/>
            <a:chExt cx="18583840" cy="27377177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7281553"/>
              <a:ext cx="8434625" cy="1863808"/>
              <a:chOff x="0" y="0"/>
              <a:chExt cx="3038709" cy="671467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10558" y="0"/>
                <a:ext cx="3017592" cy="671467"/>
              </a:xfrm>
              <a:custGeom>
                <a:avLst/>
                <a:gdLst/>
                <a:ahLst/>
                <a:cxnLst/>
                <a:rect r="r" b="b" t="t" l="l"/>
                <a:pathLst>
                  <a:path h="671467" w="3017592">
                    <a:moveTo>
                      <a:pt x="233593" y="0"/>
                    </a:moveTo>
                    <a:lnTo>
                      <a:pt x="2783999" y="0"/>
                    </a:lnTo>
                    <a:cubicBezTo>
                      <a:pt x="2808318" y="0"/>
                      <a:pt x="2829769" y="15920"/>
                      <a:pt x="2836812" y="39196"/>
                    </a:cubicBezTo>
                    <a:lnTo>
                      <a:pt x="3016289" y="632271"/>
                    </a:lnTo>
                    <a:cubicBezTo>
                      <a:pt x="3019076" y="641478"/>
                      <a:pt x="3017338" y="651462"/>
                      <a:pt x="3011605" y="659187"/>
                    </a:cubicBezTo>
                    <a:cubicBezTo>
                      <a:pt x="3005872" y="666912"/>
                      <a:pt x="2996820" y="671467"/>
                      <a:pt x="2987199" y="671467"/>
                    </a:cubicBezTo>
                    <a:lnTo>
                      <a:pt x="30393" y="671467"/>
                    </a:lnTo>
                    <a:cubicBezTo>
                      <a:pt x="20773" y="671467"/>
                      <a:pt x="11721" y="666912"/>
                      <a:pt x="5988" y="659187"/>
                    </a:cubicBezTo>
                    <a:cubicBezTo>
                      <a:pt x="254" y="651462"/>
                      <a:pt x="-1483" y="641478"/>
                      <a:pt x="1304" y="632271"/>
                    </a:cubicBezTo>
                    <a:lnTo>
                      <a:pt x="180780" y="39196"/>
                    </a:lnTo>
                    <a:cubicBezTo>
                      <a:pt x="187824" y="15920"/>
                      <a:pt x="209275" y="0"/>
                      <a:pt x="233593" y="0"/>
                    </a:cubicBezTo>
                    <a:close/>
                  </a:path>
                </a:pathLst>
              </a:custGeom>
              <a:solidFill>
                <a:srgbClr val="63AF76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127000" y="-95250"/>
                <a:ext cx="2784709" cy="766717"/>
              </a:xfrm>
              <a:prstGeom prst="rect">
                <a:avLst/>
              </a:prstGeom>
            </p:spPr>
            <p:txBody>
              <a:bodyPr anchor="ctr" rtlCol="false" tIns="37505" lIns="37505" bIns="37505" rIns="37505"/>
              <a:lstStyle/>
              <a:p>
                <a:pPr algn="ctr" marL="0" indent="0" lvl="0">
                  <a:lnSpc>
                    <a:spcPts val="361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7281553"/>
              <a:ext cx="4236633" cy="2172486"/>
              <a:chOff x="0" y="0"/>
              <a:chExt cx="812800" cy="416792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416792"/>
              </a:xfrm>
              <a:custGeom>
                <a:avLst/>
                <a:gdLst/>
                <a:ahLst/>
                <a:cxnLst/>
                <a:rect r="r" b="b" t="t" l="l"/>
                <a:pathLst>
                  <a:path h="416792" w="812800">
                    <a:moveTo>
                      <a:pt x="71746" y="0"/>
                    </a:moveTo>
                    <a:lnTo>
                      <a:pt x="741054" y="0"/>
                    </a:lnTo>
                    <a:cubicBezTo>
                      <a:pt x="760082" y="0"/>
                      <a:pt x="778331" y="7559"/>
                      <a:pt x="791786" y="21014"/>
                    </a:cubicBezTo>
                    <a:cubicBezTo>
                      <a:pt x="805241" y="34469"/>
                      <a:pt x="812800" y="52718"/>
                      <a:pt x="812800" y="71746"/>
                    </a:cubicBezTo>
                    <a:lnTo>
                      <a:pt x="812800" y="345046"/>
                    </a:lnTo>
                    <a:cubicBezTo>
                      <a:pt x="812800" y="364075"/>
                      <a:pt x="805241" y="382324"/>
                      <a:pt x="791786" y="395778"/>
                    </a:cubicBezTo>
                    <a:cubicBezTo>
                      <a:pt x="778331" y="409233"/>
                      <a:pt x="760082" y="416792"/>
                      <a:pt x="741054" y="416792"/>
                    </a:cubicBezTo>
                    <a:lnTo>
                      <a:pt x="71746" y="416792"/>
                    </a:lnTo>
                    <a:cubicBezTo>
                      <a:pt x="52718" y="416792"/>
                      <a:pt x="34469" y="409233"/>
                      <a:pt x="21014" y="395778"/>
                    </a:cubicBezTo>
                    <a:cubicBezTo>
                      <a:pt x="7559" y="382324"/>
                      <a:pt x="0" y="364075"/>
                      <a:pt x="0" y="345046"/>
                    </a:cubicBezTo>
                    <a:lnTo>
                      <a:pt x="0" y="71746"/>
                    </a:lnTo>
                    <a:cubicBezTo>
                      <a:pt x="0" y="52718"/>
                      <a:pt x="7559" y="34469"/>
                      <a:pt x="21014" y="21014"/>
                    </a:cubicBezTo>
                    <a:cubicBezTo>
                      <a:pt x="34469" y="7559"/>
                      <a:pt x="52718" y="0"/>
                      <a:pt x="71746" y="0"/>
                    </a:cubicBezTo>
                    <a:close/>
                  </a:path>
                </a:pathLst>
              </a:custGeom>
              <a:solidFill>
                <a:srgbClr val="63AF76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95250"/>
                <a:ext cx="812800" cy="512042"/>
              </a:xfrm>
              <a:prstGeom prst="rect">
                <a:avLst/>
              </a:prstGeom>
            </p:spPr>
            <p:txBody>
              <a:bodyPr anchor="ctr" rtlCol="false" tIns="37505" lIns="37505" bIns="37505" rIns="37505"/>
              <a:lstStyle/>
              <a:p>
                <a:pPr algn="ctr" marL="0" indent="0" lvl="0">
                  <a:lnSpc>
                    <a:spcPts val="361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482992" y="0"/>
              <a:ext cx="17624093" cy="10268131"/>
              <a:chOff x="0" y="0"/>
              <a:chExt cx="3381191" cy="1969946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3381191" cy="1969946"/>
              </a:xfrm>
              <a:custGeom>
                <a:avLst/>
                <a:gdLst/>
                <a:ahLst/>
                <a:cxnLst/>
                <a:rect r="r" b="b" t="t" l="l"/>
                <a:pathLst>
                  <a:path h="1969946" w="3381191">
                    <a:moveTo>
                      <a:pt x="0" y="0"/>
                    </a:moveTo>
                    <a:lnTo>
                      <a:pt x="3381191" y="0"/>
                    </a:lnTo>
                    <a:lnTo>
                      <a:pt x="3381191" y="1969946"/>
                    </a:lnTo>
                    <a:lnTo>
                      <a:pt x="0" y="1969946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95250"/>
                <a:ext cx="3381191" cy="2065196"/>
              </a:xfrm>
              <a:prstGeom prst="rect">
                <a:avLst/>
              </a:prstGeom>
            </p:spPr>
            <p:txBody>
              <a:bodyPr anchor="ctr" rtlCol="false" tIns="37505" lIns="37505" bIns="37505" rIns="37505"/>
              <a:lstStyle/>
              <a:p>
                <a:pPr algn="ctr">
                  <a:lnSpc>
                    <a:spcPts val="3611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-5400000">
              <a:off x="9631015" y="12646790"/>
              <a:ext cx="13843813" cy="4061837"/>
              <a:chOff x="0" y="0"/>
              <a:chExt cx="1605052" cy="470929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605052" cy="470929"/>
              </a:xfrm>
              <a:custGeom>
                <a:avLst/>
                <a:gdLst/>
                <a:ahLst/>
                <a:cxnLst/>
                <a:rect r="r" b="b" t="t" l="l"/>
                <a:pathLst>
                  <a:path h="470929" w="1605052">
                    <a:moveTo>
                      <a:pt x="24951" y="0"/>
                    </a:moveTo>
                    <a:lnTo>
                      <a:pt x="1580101" y="0"/>
                    </a:lnTo>
                    <a:cubicBezTo>
                      <a:pt x="1593881" y="0"/>
                      <a:pt x="1605052" y="11171"/>
                      <a:pt x="1605052" y="24951"/>
                    </a:cubicBezTo>
                    <a:lnTo>
                      <a:pt x="1605052" y="445979"/>
                    </a:lnTo>
                    <a:cubicBezTo>
                      <a:pt x="1605052" y="452596"/>
                      <a:pt x="1602423" y="458943"/>
                      <a:pt x="1597744" y="463622"/>
                    </a:cubicBezTo>
                    <a:cubicBezTo>
                      <a:pt x="1593065" y="468301"/>
                      <a:pt x="1586719" y="470929"/>
                      <a:pt x="1580101" y="470929"/>
                    </a:cubicBezTo>
                    <a:lnTo>
                      <a:pt x="24951" y="470929"/>
                    </a:lnTo>
                    <a:cubicBezTo>
                      <a:pt x="11171" y="470929"/>
                      <a:pt x="0" y="459759"/>
                      <a:pt x="0" y="445979"/>
                    </a:cubicBezTo>
                    <a:lnTo>
                      <a:pt x="0" y="24951"/>
                    </a:lnTo>
                    <a:cubicBezTo>
                      <a:pt x="0" y="11171"/>
                      <a:pt x="11171" y="0"/>
                      <a:pt x="24951" y="0"/>
                    </a:cubicBezTo>
                    <a:close/>
                  </a:path>
                </a:pathLst>
              </a:custGeom>
              <a:solidFill>
                <a:srgbClr val="BDB7A3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95250"/>
                <a:ext cx="1605052" cy="566179"/>
              </a:xfrm>
              <a:prstGeom prst="rect">
                <a:avLst/>
              </a:prstGeom>
            </p:spPr>
            <p:txBody>
              <a:bodyPr anchor="ctr" rtlCol="false" tIns="48755" lIns="48755" bIns="48755" rIns="48755"/>
              <a:lstStyle/>
              <a:p>
                <a:pPr algn="ctr" marL="0" indent="0" lvl="0">
                  <a:lnSpc>
                    <a:spcPts val="361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-5400000">
              <a:off x="14756127" y="5983306"/>
              <a:ext cx="2640080" cy="4061837"/>
              <a:chOff x="0" y="0"/>
              <a:chExt cx="306091" cy="470929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306091" cy="470929"/>
              </a:xfrm>
              <a:custGeom>
                <a:avLst/>
                <a:gdLst/>
                <a:ahLst/>
                <a:cxnLst/>
                <a:rect r="r" b="b" t="t" l="l"/>
                <a:pathLst>
                  <a:path h="470929" w="306091">
                    <a:moveTo>
                      <a:pt x="130833" y="0"/>
                    </a:moveTo>
                    <a:lnTo>
                      <a:pt x="175258" y="0"/>
                    </a:lnTo>
                    <a:cubicBezTo>
                      <a:pt x="209957" y="0"/>
                      <a:pt x="243235" y="13784"/>
                      <a:pt x="267771" y="38320"/>
                    </a:cubicBezTo>
                    <a:cubicBezTo>
                      <a:pt x="292307" y="62856"/>
                      <a:pt x="306091" y="96134"/>
                      <a:pt x="306091" y="130833"/>
                    </a:cubicBezTo>
                    <a:lnTo>
                      <a:pt x="306091" y="340096"/>
                    </a:lnTo>
                    <a:cubicBezTo>
                      <a:pt x="306091" y="412353"/>
                      <a:pt x="247515" y="470929"/>
                      <a:pt x="175258" y="470929"/>
                    </a:cubicBezTo>
                    <a:lnTo>
                      <a:pt x="130833" y="470929"/>
                    </a:lnTo>
                    <a:cubicBezTo>
                      <a:pt x="58576" y="470929"/>
                      <a:pt x="0" y="412353"/>
                      <a:pt x="0" y="340096"/>
                    </a:cubicBezTo>
                    <a:lnTo>
                      <a:pt x="0" y="130833"/>
                    </a:lnTo>
                    <a:cubicBezTo>
                      <a:pt x="0" y="58576"/>
                      <a:pt x="58576" y="0"/>
                      <a:pt x="130833" y="0"/>
                    </a:cubicBezTo>
                    <a:close/>
                  </a:path>
                </a:pathLst>
              </a:custGeom>
              <a:solidFill>
                <a:srgbClr val="73D48B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85725"/>
                <a:ext cx="306091" cy="5566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1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9983411" y="6694185"/>
              <a:ext cx="8123675" cy="2161234"/>
              <a:chOff x="0" y="0"/>
              <a:chExt cx="1427316" cy="379725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23867" y="0"/>
                <a:ext cx="1379582" cy="379725"/>
              </a:xfrm>
              <a:custGeom>
                <a:avLst/>
                <a:gdLst/>
                <a:ahLst/>
                <a:cxnLst/>
                <a:rect r="r" b="b" t="t" l="l"/>
                <a:pathLst>
                  <a:path h="379725" w="1379582">
                    <a:moveTo>
                      <a:pt x="238860" y="0"/>
                    </a:moveTo>
                    <a:lnTo>
                      <a:pt x="1140722" y="0"/>
                    </a:lnTo>
                    <a:cubicBezTo>
                      <a:pt x="1177370" y="0"/>
                      <a:pt x="1211043" y="20172"/>
                      <a:pt x="1228334" y="52484"/>
                    </a:cubicBezTo>
                    <a:lnTo>
                      <a:pt x="1375363" y="327241"/>
                    </a:lnTo>
                    <a:cubicBezTo>
                      <a:pt x="1381277" y="338292"/>
                      <a:pt x="1380954" y="351638"/>
                      <a:pt x="1374513" y="362391"/>
                    </a:cubicBezTo>
                    <a:cubicBezTo>
                      <a:pt x="1368071" y="373144"/>
                      <a:pt x="1356457" y="379725"/>
                      <a:pt x="1343922" y="379725"/>
                    </a:cubicBezTo>
                    <a:lnTo>
                      <a:pt x="35660" y="379725"/>
                    </a:lnTo>
                    <a:cubicBezTo>
                      <a:pt x="23125" y="379725"/>
                      <a:pt x="11511" y="373144"/>
                      <a:pt x="5069" y="362391"/>
                    </a:cubicBezTo>
                    <a:cubicBezTo>
                      <a:pt x="-1373" y="351638"/>
                      <a:pt x="-1695" y="338292"/>
                      <a:pt x="4219" y="327241"/>
                    </a:cubicBezTo>
                    <a:lnTo>
                      <a:pt x="151247" y="52484"/>
                    </a:lnTo>
                    <a:cubicBezTo>
                      <a:pt x="168539" y="20172"/>
                      <a:pt x="202212" y="0"/>
                      <a:pt x="238860" y="0"/>
                    </a:cubicBezTo>
                    <a:close/>
                  </a:path>
                </a:pathLst>
              </a:custGeom>
              <a:solidFill>
                <a:srgbClr val="73D48B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127000" y="-85725"/>
                <a:ext cx="1173316" cy="465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61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-5400000">
              <a:off x="-348538" y="8921553"/>
              <a:ext cx="18804163" cy="18107086"/>
              <a:chOff x="0" y="0"/>
              <a:chExt cx="2834153" cy="272909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2834153" cy="2729090"/>
              </a:xfrm>
              <a:custGeom>
                <a:avLst/>
                <a:gdLst/>
                <a:ahLst/>
                <a:cxnLst/>
                <a:rect r="r" b="b" t="t" l="l"/>
                <a:pathLst>
                  <a:path h="2729090" w="2834153">
                    <a:moveTo>
                      <a:pt x="52902" y="0"/>
                    </a:moveTo>
                    <a:lnTo>
                      <a:pt x="2781251" y="0"/>
                    </a:lnTo>
                    <a:cubicBezTo>
                      <a:pt x="2810468" y="0"/>
                      <a:pt x="2834153" y="23685"/>
                      <a:pt x="2834153" y="52902"/>
                    </a:cubicBezTo>
                    <a:lnTo>
                      <a:pt x="2834153" y="2676188"/>
                    </a:lnTo>
                    <a:cubicBezTo>
                      <a:pt x="2834153" y="2705405"/>
                      <a:pt x="2810468" y="2729090"/>
                      <a:pt x="2781251" y="2729090"/>
                    </a:cubicBezTo>
                    <a:lnTo>
                      <a:pt x="52902" y="2729090"/>
                    </a:lnTo>
                    <a:cubicBezTo>
                      <a:pt x="23685" y="2729090"/>
                      <a:pt x="0" y="2705405"/>
                      <a:pt x="0" y="2676188"/>
                    </a:cubicBezTo>
                    <a:lnTo>
                      <a:pt x="0" y="52902"/>
                    </a:lnTo>
                    <a:cubicBezTo>
                      <a:pt x="0" y="23685"/>
                      <a:pt x="23685" y="0"/>
                      <a:pt x="52902" y="0"/>
                    </a:cubicBezTo>
                    <a:close/>
                  </a:path>
                </a:pathLst>
              </a:custGeom>
              <a:solidFill>
                <a:srgbClr val="73D48B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85725"/>
                <a:ext cx="2834153" cy="2814815"/>
              </a:xfrm>
              <a:prstGeom prst="rect">
                <a:avLst/>
              </a:prstGeom>
            </p:spPr>
            <p:txBody>
              <a:bodyPr anchor="ctr" rtlCol="false" tIns="39078" lIns="39078" bIns="39078" rIns="39078"/>
              <a:lstStyle/>
              <a:p>
                <a:pPr algn="ctr">
                  <a:lnSpc>
                    <a:spcPts val="3610"/>
                  </a:lnSpc>
                </a:pPr>
              </a:p>
            </p:txBody>
          </p:sp>
        </p:grpSp>
      </p:grpSp>
      <p:grpSp>
        <p:nvGrpSpPr>
          <p:cNvPr name="Group 33" id="33"/>
          <p:cNvGrpSpPr/>
          <p:nvPr/>
        </p:nvGrpSpPr>
        <p:grpSpPr>
          <a:xfrm rot="0">
            <a:off x="16997501" y="6084964"/>
            <a:ext cx="1462519" cy="125164"/>
            <a:chOff x="0" y="0"/>
            <a:chExt cx="903267" cy="7730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03267" cy="77303"/>
            </a:xfrm>
            <a:custGeom>
              <a:avLst/>
              <a:gdLst/>
              <a:ahLst/>
              <a:cxnLst/>
              <a:rect r="r" b="b" t="t" l="l"/>
              <a:pathLst>
                <a:path h="77303" w="903267">
                  <a:moveTo>
                    <a:pt x="0" y="0"/>
                  </a:moveTo>
                  <a:lnTo>
                    <a:pt x="903267" y="0"/>
                  </a:lnTo>
                  <a:lnTo>
                    <a:pt x="903267" y="77303"/>
                  </a:lnTo>
                  <a:lnTo>
                    <a:pt x="0" y="77303"/>
                  </a:lnTo>
                  <a:close/>
                </a:path>
              </a:pathLst>
            </a:custGeom>
            <a:solidFill>
              <a:srgbClr val="E1DDCE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0"/>
              <a:ext cx="903267" cy="172553"/>
            </a:xfrm>
            <a:prstGeom prst="rect">
              <a:avLst/>
            </a:prstGeom>
          </p:spPr>
          <p:txBody>
            <a:bodyPr anchor="ctr" rtlCol="false" tIns="21663" lIns="21663" bIns="21663" rIns="21663"/>
            <a:lstStyle/>
            <a:p>
              <a:pPr algn="ctr">
                <a:lnSpc>
                  <a:spcPts val="3611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7415978" y="6515841"/>
            <a:ext cx="1744044" cy="125164"/>
            <a:chOff x="0" y="0"/>
            <a:chExt cx="1077140" cy="7730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77140" cy="77303"/>
            </a:xfrm>
            <a:custGeom>
              <a:avLst/>
              <a:gdLst/>
              <a:ahLst/>
              <a:cxnLst/>
              <a:rect r="r" b="b" t="t" l="l"/>
              <a:pathLst>
                <a:path h="77303" w="1077140">
                  <a:moveTo>
                    <a:pt x="0" y="0"/>
                  </a:moveTo>
                  <a:lnTo>
                    <a:pt x="1077140" y="0"/>
                  </a:lnTo>
                  <a:lnTo>
                    <a:pt x="1077140" y="77303"/>
                  </a:lnTo>
                  <a:lnTo>
                    <a:pt x="0" y="77303"/>
                  </a:lnTo>
                  <a:close/>
                </a:path>
              </a:pathLst>
            </a:custGeom>
            <a:solidFill>
              <a:srgbClr val="E1DDCE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0"/>
              <a:ext cx="1077140" cy="172553"/>
            </a:xfrm>
            <a:prstGeom prst="rect">
              <a:avLst/>
            </a:prstGeom>
          </p:spPr>
          <p:txBody>
            <a:bodyPr anchor="ctr" rtlCol="false" tIns="21663" lIns="21663" bIns="21663" rIns="21663"/>
            <a:lstStyle/>
            <a:p>
              <a:pPr algn="ctr">
                <a:lnSpc>
                  <a:spcPts val="3611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7415978" y="6946718"/>
            <a:ext cx="1744044" cy="125164"/>
            <a:chOff x="0" y="0"/>
            <a:chExt cx="1077140" cy="7730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77140" cy="77303"/>
            </a:xfrm>
            <a:custGeom>
              <a:avLst/>
              <a:gdLst/>
              <a:ahLst/>
              <a:cxnLst/>
              <a:rect r="r" b="b" t="t" l="l"/>
              <a:pathLst>
                <a:path h="77303" w="1077140">
                  <a:moveTo>
                    <a:pt x="0" y="0"/>
                  </a:moveTo>
                  <a:lnTo>
                    <a:pt x="1077140" y="0"/>
                  </a:lnTo>
                  <a:lnTo>
                    <a:pt x="1077140" y="77303"/>
                  </a:lnTo>
                  <a:lnTo>
                    <a:pt x="0" y="77303"/>
                  </a:lnTo>
                  <a:close/>
                </a:path>
              </a:pathLst>
            </a:custGeom>
            <a:solidFill>
              <a:srgbClr val="E1DDCE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0"/>
              <a:ext cx="1077140" cy="172553"/>
            </a:xfrm>
            <a:prstGeom prst="rect">
              <a:avLst/>
            </a:prstGeom>
          </p:spPr>
          <p:txBody>
            <a:bodyPr anchor="ctr" rtlCol="false" tIns="21663" lIns="21663" bIns="21663" rIns="21663"/>
            <a:lstStyle/>
            <a:p>
              <a:pPr algn="ctr">
                <a:lnSpc>
                  <a:spcPts val="3611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6997501" y="7377595"/>
            <a:ext cx="1462519" cy="125164"/>
            <a:chOff x="0" y="0"/>
            <a:chExt cx="903267" cy="7730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03267" cy="77303"/>
            </a:xfrm>
            <a:custGeom>
              <a:avLst/>
              <a:gdLst/>
              <a:ahLst/>
              <a:cxnLst/>
              <a:rect r="r" b="b" t="t" l="l"/>
              <a:pathLst>
                <a:path h="77303" w="903267">
                  <a:moveTo>
                    <a:pt x="0" y="0"/>
                  </a:moveTo>
                  <a:lnTo>
                    <a:pt x="903267" y="0"/>
                  </a:lnTo>
                  <a:lnTo>
                    <a:pt x="903267" y="77303"/>
                  </a:lnTo>
                  <a:lnTo>
                    <a:pt x="0" y="77303"/>
                  </a:lnTo>
                  <a:close/>
                </a:path>
              </a:pathLst>
            </a:custGeom>
            <a:solidFill>
              <a:srgbClr val="E1DDCE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0"/>
              <a:ext cx="903267" cy="172553"/>
            </a:xfrm>
            <a:prstGeom prst="rect">
              <a:avLst/>
            </a:prstGeom>
          </p:spPr>
          <p:txBody>
            <a:bodyPr anchor="ctr" rtlCol="false" tIns="21663" lIns="21663" bIns="21663" rIns="21663"/>
            <a:lstStyle/>
            <a:p>
              <a:pPr algn="ctr">
                <a:lnSpc>
                  <a:spcPts val="3611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6997501" y="7808472"/>
            <a:ext cx="1744044" cy="125164"/>
            <a:chOff x="0" y="0"/>
            <a:chExt cx="1077140" cy="7730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77140" cy="77303"/>
            </a:xfrm>
            <a:custGeom>
              <a:avLst/>
              <a:gdLst/>
              <a:ahLst/>
              <a:cxnLst/>
              <a:rect r="r" b="b" t="t" l="l"/>
              <a:pathLst>
                <a:path h="77303" w="1077140">
                  <a:moveTo>
                    <a:pt x="0" y="0"/>
                  </a:moveTo>
                  <a:lnTo>
                    <a:pt x="1077140" y="0"/>
                  </a:lnTo>
                  <a:lnTo>
                    <a:pt x="1077140" y="77303"/>
                  </a:lnTo>
                  <a:lnTo>
                    <a:pt x="0" y="77303"/>
                  </a:lnTo>
                  <a:close/>
                </a:path>
              </a:pathLst>
            </a:custGeom>
            <a:solidFill>
              <a:srgbClr val="E1DDCE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0"/>
              <a:ext cx="1077140" cy="172553"/>
            </a:xfrm>
            <a:prstGeom prst="rect">
              <a:avLst/>
            </a:prstGeom>
          </p:spPr>
          <p:txBody>
            <a:bodyPr anchor="ctr" rtlCol="false" tIns="21663" lIns="21663" bIns="21663" rIns="21663"/>
            <a:lstStyle/>
            <a:p>
              <a:pPr algn="ctr">
                <a:lnSpc>
                  <a:spcPts val="3611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6997501" y="8239349"/>
            <a:ext cx="1744044" cy="125164"/>
            <a:chOff x="0" y="0"/>
            <a:chExt cx="1077140" cy="7730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77140" cy="77303"/>
            </a:xfrm>
            <a:custGeom>
              <a:avLst/>
              <a:gdLst/>
              <a:ahLst/>
              <a:cxnLst/>
              <a:rect r="r" b="b" t="t" l="l"/>
              <a:pathLst>
                <a:path h="77303" w="1077140">
                  <a:moveTo>
                    <a:pt x="0" y="0"/>
                  </a:moveTo>
                  <a:lnTo>
                    <a:pt x="1077140" y="0"/>
                  </a:lnTo>
                  <a:lnTo>
                    <a:pt x="1077140" y="77303"/>
                  </a:lnTo>
                  <a:lnTo>
                    <a:pt x="0" y="77303"/>
                  </a:lnTo>
                  <a:close/>
                </a:path>
              </a:pathLst>
            </a:custGeom>
            <a:solidFill>
              <a:srgbClr val="E1DDCE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0"/>
              <a:ext cx="1077140" cy="172553"/>
            </a:xfrm>
            <a:prstGeom prst="rect">
              <a:avLst/>
            </a:prstGeom>
          </p:spPr>
          <p:txBody>
            <a:bodyPr anchor="ctr" rtlCol="false" tIns="21663" lIns="21663" bIns="21663" rIns="21663"/>
            <a:lstStyle/>
            <a:p>
              <a:pPr algn="ctr">
                <a:lnSpc>
                  <a:spcPts val="3611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6997501" y="8670225"/>
            <a:ext cx="1462519" cy="125164"/>
            <a:chOff x="0" y="0"/>
            <a:chExt cx="903267" cy="77303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03267" cy="77303"/>
            </a:xfrm>
            <a:custGeom>
              <a:avLst/>
              <a:gdLst/>
              <a:ahLst/>
              <a:cxnLst/>
              <a:rect r="r" b="b" t="t" l="l"/>
              <a:pathLst>
                <a:path h="77303" w="903267">
                  <a:moveTo>
                    <a:pt x="0" y="0"/>
                  </a:moveTo>
                  <a:lnTo>
                    <a:pt x="903267" y="0"/>
                  </a:lnTo>
                  <a:lnTo>
                    <a:pt x="903267" y="77303"/>
                  </a:lnTo>
                  <a:lnTo>
                    <a:pt x="0" y="77303"/>
                  </a:lnTo>
                  <a:close/>
                </a:path>
              </a:pathLst>
            </a:custGeom>
            <a:solidFill>
              <a:srgbClr val="E1DDCE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0"/>
              <a:ext cx="903267" cy="172553"/>
            </a:xfrm>
            <a:prstGeom prst="rect">
              <a:avLst/>
            </a:prstGeom>
          </p:spPr>
          <p:txBody>
            <a:bodyPr anchor="ctr" rtlCol="false" tIns="21663" lIns="21663" bIns="21663" rIns="21663"/>
            <a:lstStyle/>
            <a:p>
              <a:pPr algn="ctr">
                <a:lnSpc>
                  <a:spcPts val="3611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6997501" y="9101102"/>
            <a:ext cx="1744044" cy="125164"/>
            <a:chOff x="0" y="0"/>
            <a:chExt cx="1077140" cy="77303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77140" cy="77303"/>
            </a:xfrm>
            <a:custGeom>
              <a:avLst/>
              <a:gdLst/>
              <a:ahLst/>
              <a:cxnLst/>
              <a:rect r="r" b="b" t="t" l="l"/>
              <a:pathLst>
                <a:path h="77303" w="1077140">
                  <a:moveTo>
                    <a:pt x="0" y="0"/>
                  </a:moveTo>
                  <a:lnTo>
                    <a:pt x="1077140" y="0"/>
                  </a:lnTo>
                  <a:lnTo>
                    <a:pt x="1077140" y="77303"/>
                  </a:lnTo>
                  <a:lnTo>
                    <a:pt x="0" y="77303"/>
                  </a:lnTo>
                  <a:close/>
                </a:path>
              </a:pathLst>
            </a:custGeom>
            <a:solidFill>
              <a:srgbClr val="E1DDCE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0"/>
              <a:ext cx="1077140" cy="172553"/>
            </a:xfrm>
            <a:prstGeom prst="rect">
              <a:avLst/>
            </a:prstGeom>
          </p:spPr>
          <p:txBody>
            <a:bodyPr anchor="ctr" rtlCol="false" tIns="21663" lIns="21663" bIns="21663" rIns="21663"/>
            <a:lstStyle/>
            <a:p>
              <a:pPr algn="ctr">
                <a:lnSpc>
                  <a:spcPts val="3611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6997501" y="9531979"/>
            <a:ext cx="1744044" cy="125164"/>
            <a:chOff x="0" y="0"/>
            <a:chExt cx="1077140" cy="77303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77140" cy="77303"/>
            </a:xfrm>
            <a:custGeom>
              <a:avLst/>
              <a:gdLst/>
              <a:ahLst/>
              <a:cxnLst/>
              <a:rect r="r" b="b" t="t" l="l"/>
              <a:pathLst>
                <a:path h="77303" w="1077140">
                  <a:moveTo>
                    <a:pt x="0" y="0"/>
                  </a:moveTo>
                  <a:lnTo>
                    <a:pt x="1077140" y="0"/>
                  </a:lnTo>
                  <a:lnTo>
                    <a:pt x="1077140" y="77303"/>
                  </a:lnTo>
                  <a:lnTo>
                    <a:pt x="0" y="77303"/>
                  </a:lnTo>
                  <a:close/>
                </a:path>
              </a:pathLst>
            </a:custGeom>
            <a:solidFill>
              <a:srgbClr val="E1DDCE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0"/>
              <a:ext cx="1077140" cy="172553"/>
            </a:xfrm>
            <a:prstGeom prst="rect">
              <a:avLst/>
            </a:prstGeom>
          </p:spPr>
          <p:txBody>
            <a:bodyPr anchor="ctr" rtlCol="false" tIns="21663" lIns="21663" bIns="21663" rIns="21663"/>
            <a:lstStyle/>
            <a:p>
              <a:pPr algn="ctr">
                <a:lnSpc>
                  <a:spcPts val="3611"/>
                </a:lnSpc>
              </a:pP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376708" y="77084"/>
            <a:ext cx="14113942" cy="1216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925"/>
              </a:lnSpc>
              <a:spcBef>
                <a:spcPct val="0"/>
              </a:spcBef>
            </a:pPr>
            <a:r>
              <a:rPr lang="en-US" sz="9297">
                <a:solidFill>
                  <a:srgbClr val="000000"/>
                </a:solidFill>
                <a:latin typeface="Zilla Slab"/>
                <a:ea typeface="Zilla Slab"/>
                <a:cs typeface="Zilla Slab"/>
                <a:sym typeface="Zilla Slab"/>
              </a:rPr>
              <a:t>Metodologia agil y roles</a:t>
            </a:r>
          </a:p>
        </p:txBody>
      </p:sp>
      <p:graphicFrame>
        <p:nvGraphicFramePr>
          <p:cNvPr name="Table 61" id="61"/>
          <p:cNvGraphicFramePr>
            <a:graphicFrameLocks noGrp="true"/>
          </p:cNvGraphicFramePr>
          <p:nvPr/>
        </p:nvGraphicFramePr>
        <p:xfrm>
          <a:off x="3545959" y="1789206"/>
          <a:ext cx="9237194" cy="4851800"/>
        </p:xfrm>
        <a:graphic>
          <a:graphicData uri="http://schemas.openxmlformats.org/drawingml/2006/table">
            <a:tbl>
              <a:tblPr/>
              <a:tblGrid>
                <a:gridCol w="3153355"/>
                <a:gridCol w="3061645"/>
                <a:gridCol w="3022193"/>
              </a:tblGrid>
              <a:tr h="105004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Ubuntu Bold"/>
                          <a:ea typeface="Ubuntu Bold"/>
                          <a:cs typeface="Ubuntu Bold"/>
                          <a:sym typeface="Ubuntu Bold"/>
                        </a:rPr>
                        <a:t>INTEGRANTE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D48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Ubuntu Bold"/>
                          <a:ea typeface="Ubuntu Bold"/>
                          <a:cs typeface="Ubuntu Bold"/>
                          <a:sym typeface="Ubuntu Bold"/>
                        </a:rPr>
                        <a:t>ROL PRINCIPAL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D48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Ubuntu Bold"/>
                          <a:ea typeface="Ubuntu Bold"/>
                          <a:cs typeface="Ubuntu Bold"/>
                          <a:sym typeface="Ubuntu Bold"/>
                        </a:rPr>
                        <a:t>RESPONSABILIDADES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D48B"/>
                    </a:solidFill>
                  </a:tcPr>
                </a:tc>
              </a:tr>
              <a:tr h="137285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Johan Huamanchumo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Desarrollo / Datos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Integración con la API de Banco de Chile y manejo de los datos financieros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285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Kevin Dionicio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Desarrollo Frontend / UX-UI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Diseño e implementación de la interfaz del dashboard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604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Camilo Ponce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Scrum Master / Desarrollo Backend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Gestión del equipo y desarrollo del backend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2" id="62"/>
          <p:cNvSpPr txBox="true"/>
          <p:nvPr/>
        </p:nvSpPr>
        <p:spPr>
          <a:xfrm rot="0">
            <a:off x="9754375" y="6838779"/>
            <a:ext cx="4465903" cy="2597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1872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Se eligio una metodologia agil para desarrollar el sistema . al depender de integraciones de apis externas , esto permite adaptarse con rapidez ante cualquier problema tecnico y asegura que el equipo avance de manera sincronizada.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E1DD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73818" y="713028"/>
            <a:ext cx="13340365" cy="143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647"/>
              </a:lnSpc>
              <a:spcBef>
                <a:spcPct val="0"/>
              </a:spcBef>
            </a:pPr>
            <a:r>
              <a:rPr lang="en-US" sz="11091">
                <a:solidFill>
                  <a:srgbClr val="000000"/>
                </a:solidFill>
                <a:latin typeface="Zilla Slab"/>
                <a:ea typeface="Zilla Slab"/>
                <a:cs typeface="Zilla Slab"/>
                <a:sym typeface="Zilla Slab"/>
              </a:rPr>
              <a:t>Objetivo General</a:t>
            </a:r>
          </a:p>
        </p:txBody>
      </p:sp>
      <p:sp>
        <p:nvSpPr>
          <p:cNvPr name="AutoShape 3" id="3"/>
          <p:cNvSpPr/>
          <p:nvPr/>
        </p:nvSpPr>
        <p:spPr>
          <a:xfrm flipH="true" flipV="true">
            <a:off x="9144000" y="3529035"/>
            <a:ext cx="0" cy="3857363"/>
          </a:xfrm>
          <a:prstGeom prst="line">
            <a:avLst/>
          </a:prstGeom>
          <a:ln cap="flat" w="28575">
            <a:solidFill>
              <a:srgbClr val="63AF7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3102897" y="4342571"/>
            <a:ext cx="0" cy="3425049"/>
          </a:xfrm>
          <a:prstGeom prst="line">
            <a:avLst/>
          </a:prstGeom>
          <a:ln cap="rnd" w="28575">
            <a:solidFill>
              <a:srgbClr val="63AF7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15133878" y="4342571"/>
            <a:ext cx="0" cy="3209586"/>
          </a:xfrm>
          <a:prstGeom prst="line">
            <a:avLst/>
          </a:prstGeom>
          <a:ln cap="rnd" w="28575">
            <a:solidFill>
              <a:srgbClr val="63AF7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3102897" y="4342571"/>
            <a:ext cx="12030981" cy="0"/>
          </a:xfrm>
          <a:prstGeom prst="line">
            <a:avLst/>
          </a:prstGeom>
          <a:ln cap="rnd" w="28575">
            <a:solidFill>
              <a:srgbClr val="63AF7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4955324" y="2716433"/>
            <a:ext cx="8377352" cy="1036607"/>
            <a:chOff x="0" y="0"/>
            <a:chExt cx="2206381" cy="2730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06381" cy="273016"/>
            </a:xfrm>
            <a:custGeom>
              <a:avLst/>
              <a:gdLst/>
              <a:ahLst/>
              <a:cxnLst/>
              <a:rect r="r" b="b" t="t" l="l"/>
              <a:pathLst>
                <a:path h="273016" w="2206381">
                  <a:moveTo>
                    <a:pt x="0" y="0"/>
                  </a:moveTo>
                  <a:lnTo>
                    <a:pt x="2206381" y="0"/>
                  </a:lnTo>
                  <a:lnTo>
                    <a:pt x="2206381" y="273016"/>
                  </a:lnTo>
                  <a:lnTo>
                    <a:pt x="0" y="27301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0"/>
              <a:ext cx="2206381" cy="3682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11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302167" y="4965146"/>
            <a:ext cx="3683666" cy="1036607"/>
            <a:chOff x="0" y="0"/>
            <a:chExt cx="970184" cy="2730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70184" cy="273016"/>
            </a:xfrm>
            <a:custGeom>
              <a:avLst/>
              <a:gdLst/>
              <a:ahLst/>
              <a:cxnLst/>
              <a:rect r="r" b="b" t="t" l="l"/>
              <a:pathLst>
                <a:path h="273016" w="970184">
                  <a:moveTo>
                    <a:pt x="0" y="0"/>
                  </a:moveTo>
                  <a:lnTo>
                    <a:pt x="970184" y="0"/>
                  </a:lnTo>
                  <a:lnTo>
                    <a:pt x="970184" y="273016"/>
                  </a:lnTo>
                  <a:lnTo>
                    <a:pt x="0" y="27301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0"/>
              <a:ext cx="970184" cy="3682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11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292045" y="4965146"/>
            <a:ext cx="3683666" cy="1036607"/>
            <a:chOff x="0" y="0"/>
            <a:chExt cx="970184" cy="2730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70184" cy="273016"/>
            </a:xfrm>
            <a:custGeom>
              <a:avLst/>
              <a:gdLst/>
              <a:ahLst/>
              <a:cxnLst/>
              <a:rect r="r" b="b" t="t" l="l"/>
              <a:pathLst>
                <a:path h="273016" w="970184">
                  <a:moveTo>
                    <a:pt x="0" y="0"/>
                  </a:moveTo>
                  <a:lnTo>
                    <a:pt x="970184" y="0"/>
                  </a:lnTo>
                  <a:lnTo>
                    <a:pt x="970184" y="273016"/>
                  </a:lnTo>
                  <a:lnTo>
                    <a:pt x="0" y="27301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0"/>
              <a:ext cx="970184" cy="3682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11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13451" y="4965146"/>
            <a:ext cx="3683666" cy="1036607"/>
            <a:chOff x="0" y="0"/>
            <a:chExt cx="970184" cy="27301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70184" cy="273016"/>
            </a:xfrm>
            <a:custGeom>
              <a:avLst/>
              <a:gdLst/>
              <a:ahLst/>
              <a:cxnLst/>
              <a:rect r="r" b="b" t="t" l="l"/>
              <a:pathLst>
                <a:path h="273016" w="970184">
                  <a:moveTo>
                    <a:pt x="0" y="0"/>
                  </a:moveTo>
                  <a:lnTo>
                    <a:pt x="970184" y="0"/>
                  </a:lnTo>
                  <a:lnTo>
                    <a:pt x="970184" y="273016"/>
                  </a:lnTo>
                  <a:lnTo>
                    <a:pt x="0" y="27301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0"/>
              <a:ext cx="970184" cy="3682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11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59212" y="7213860"/>
            <a:ext cx="4392145" cy="2044440"/>
            <a:chOff x="0" y="0"/>
            <a:chExt cx="1156779" cy="53845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56779" cy="538453"/>
            </a:xfrm>
            <a:custGeom>
              <a:avLst/>
              <a:gdLst/>
              <a:ahLst/>
              <a:cxnLst/>
              <a:rect r="r" b="b" t="t" l="l"/>
              <a:pathLst>
                <a:path h="538453" w="1156779">
                  <a:moveTo>
                    <a:pt x="0" y="0"/>
                  </a:moveTo>
                  <a:lnTo>
                    <a:pt x="1156779" y="0"/>
                  </a:lnTo>
                  <a:lnTo>
                    <a:pt x="1156779" y="538453"/>
                  </a:lnTo>
                  <a:lnTo>
                    <a:pt x="0" y="53845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0"/>
              <a:ext cx="1156779" cy="6337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11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947927" y="7213860"/>
            <a:ext cx="4392145" cy="2044440"/>
            <a:chOff x="0" y="0"/>
            <a:chExt cx="1156779" cy="53845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56779" cy="538453"/>
            </a:xfrm>
            <a:custGeom>
              <a:avLst/>
              <a:gdLst/>
              <a:ahLst/>
              <a:cxnLst/>
              <a:rect r="r" b="b" t="t" l="l"/>
              <a:pathLst>
                <a:path h="538453" w="1156779">
                  <a:moveTo>
                    <a:pt x="0" y="0"/>
                  </a:moveTo>
                  <a:lnTo>
                    <a:pt x="1156779" y="0"/>
                  </a:lnTo>
                  <a:lnTo>
                    <a:pt x="1156779" y="538453"/>
                  </a:lnTo>
                  <a:lnTo>
                    <a:pt x="0" y="53845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0"/>
              <a:ext cx="1156779" cy="6337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11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937806" y="7213860"/>
            <a:ext cx="4392145" cy="2044440"/>
            <a:chOff x="0" y="0"/>
            <a:chExt cx="1156779" cy="53845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56779" cy="538453"/>
            </a:xfrm>
            <a:custGeom>
              <a:avLst/>
              <a:gdLst/>
              <a:ahLst/>
              <a:cxnLst/>
              <a:rect r="r" b="b" t="t" l="l"/>
              <a:pathLst>
                <a:path h="538453" w="1156779">
                  <a:moveTo>
                    <a:pt x="0" y="0"/>
                  </a:moveTo>
                  <a:lnTo>
                    <a:pt x="1156779" y="0"/>
                  </a:lnTo>
                  <a:lnTo>
                    <a:pt x="1156779" y="538453"/>
                  </a:lnTo>
                  <a:lnTo>
                    <a:pt x="0" y="53845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0"/>
              <a:ext cx="1156779" cy="6337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11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5184469" y="2611218"/>
            <a:ext cx="7919063" cy="997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2"/>
              </a:lnSpc>
            </a:pPr>
            <a:r>
              <a:rPr lang="en-US" sz="4569">
                <a:solidFill>
                  <a:srgbClr val="63AF76"/>
                </a:solidFill>
                <a:latin typeface="Zilla Slab"/>
                <a:ea typeface="Zilla Slab"/>
                <a:cs typeface="Zilla Slab"/>
                <a:sym typeface="Zilla Slab"/>
              </a:rPr>
              <a:t>Obj</a:t>
            </a:r>
            <a:r>
              <a:rPr lang="en-US" sz="4569">
                <a:solidFill>
                  <a:srgbClr val="63AF76"/>
                </a:solidFill>
                <a:latin typeface="Zilla Slab"/>
                <a:ea typeface="Zilla Slab"/>
                <a:cs typeface="Zilla Slab"/>
                <a:sym typeface="Zilla Slab"/>
              </a:rPr>
              <a:t>etivos Específicos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51231" y="4980233"/>
            <a:ext cx="3208106" cy="849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5"/>
              </a:lnSpc>
            </a:pPr>
            <a:r>
              <a:rPr lang="en-US" sz="2197">
                <a:solidFill>
                  <a:srgbClr val="63AF76"/>
                </a:solidFill>
                <a:latin typeface="Zilla Slab"/>
                <a:ea typeface="Zilla Slab"/>
                <a:cs typeface="Zilla Slab"/>
                <a:sym typeface="Zilla Slab"/>
              </a:rPr>
              <a:t>Garantizar la viabilidad de las pruebas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302167" y="5028462"/>
            <a:ext cx="3623932" cy="833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0"/>
              </a:lnSpc>
            </a:pPr>
            <a:r>
              <a:rPr lang="en-US" sz="2180">
                <a:solidFill>
                  <a:srgbClr val="63AF76"/>
                </a:solidFill>
                <a:latin typeface="Zilla Slab"/>
                <a:ea typeface="Zilla Slab"/>
                <a:cs typeface="Zilla Slab"/>
                <a:sym typeface="Zilla Slab"/>
              </a:rPr>
              <a:t>Automatizar la clasificación de transacciones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512639" y="5005549"/>
            <a:ext cx="3242479" cy="856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9"/>
              </a:lnSpc>
            </a:pPr>
            <a:r>
              <a:rPr lang="en-US" sz="2219">
                <a:solidFill>
                  <a:srgbClr val="63AF76"/>
                </a:solidFill>
                <a:latin typeface="Zilla Slab"/>
                <a:ea typeface="Zilla Slab"/>
                <a:cs typeface="Zilla Slab"/>
                <a:sym typeface="Zilla Slab"/>
              </a:rPr>
              <a:t>Entregar una visualización integrada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44516" y="7475957"/>
            <a:ext cx="3621536" cy="1663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7"/>
              </a:lnSpc>
              <a:spcBef>
                <a:spcPct val="0"/>
              </a:spcBef>
            </a:pPr>
            <a:r>
              <a:rPr lang="en-US" sz="1705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Ga</a:t>
            </a:r>
            <a:r>
              <a:rPr lang="en-US" sz="1705" strike="noStrike" u="none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rantizar la viabilidad de las pruebas del sistema mediante un entorno simulado que reproduzca el comportamiento real de la API bancaria.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125629" y="7452045"/>
            <a:ext cx="4037905" cy="1482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2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Automatiz</a:t>
            </a:r>
            <a:r>
              <a:rPr lang="en-US" sz="1899" strike="noStrike" u="none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ar la clasificación de transacciones financieras en categorías predefinidas, reduciendo la intervención manual del usuario.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221395" y="7466432"/>
            <a:ext cx="4037905" cy="1482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2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E</a:t>
            </a:r>
            <a:r>
              <a:rPr lang="en-US" sz="1899" strike="noStrike" u="none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ntregar una visualización integrada de ambos resultados (clasificación y proyección) mediante un dashboard accesible para el usuario final.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DD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9226" y="0"/>
            <a:ext cx="17254400" cy="9749582"/>
            <a:chOff x="0" y="0"/>
            <a:chExt cx="23005867" cy="129994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88749" cy="12999443"/>
            </a:xfrm>
            <a:custGeom>
              <a:avLst/>
              <a:gdLst/>
              <a:ahLst/>
              <a:cxnLst/>
              <a:rect r="r" b="b" t="t" l="l"/>
              <a:pathLst>
                <a:path h="12999443" w="7988749">
                  <a:moveTo>
                    <a:pt x="0" y="0"/>
                  </a:moveTo>
                  <a:lnTo>
                    <a:pt x="7988749" y="0"/>
                  </a:lnTo>
                  <a:lnTo>
                    <a:pt x="7988749" y="12999443"/>
                  </a:lnTo>
                  <a:lnTo>
                    <a:pt x="0" y="129994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name="Group 4" id="4"/>
            <p:cNvGrpSpPr/>
            <p:nvPr/>
          </p:nvGrpSpPr>
          <p:grpSpPr>
            <a:xfrm rot="0">
              <a:off x="6649906" y="3220427"/>
              <a:ext cx="16355961" cy="9139213"/>
              <a:chOff x="0" y="0"/>
              <a:chExt cx="3230807" cy="1805277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230807" cy="1805277"/>
              </a:xfrm>
              <a:custGeom>
                <a:avLst/>
                <a:gdLst/>
                <a:ahLst/>
                <a:cxnLst/>
                <a:rect r="r" b="b" t="t" l="l"/>
                <a:pathLst>
                  <a:path h="1805277" w="3230807">
                    <a:moveTo>
                      <a:pt x="0" y="0"/>
                    </a:moveTo>
                    <a:lnTo>
                      <a:pt x="3230807" y="0"/>
                    </a:lnTo>
                    <a:lnTo>
                      <a:pt x="3230807" y="1805277"/>
                    </a:lnTo>
                    <a:lnTo>
                      <a:pt x="0" y="180527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95250"/>
                <a:ext cx="3230807" cy="19005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11"/>
                  </a:lnSpc>
                </a:pPr>
              </a:p>
            </p:txBody>
          </p:sp>
        </p:grpSp>
        <p:sp>
          <p:nvSpPr>
            <p:cNvPr name="AutoShape 7" id="7"/>
            <p:cNvSpPr/>
            <p:nvPr/>
          </p:nvSpPr>
          <p:spPr>
            <a:xfrm>
              <a:off x="6171566" y="7907062"/>
              <a:ext cx="16834300" cy="0"/>
            </a:xfrm>
            <a:prstGeom prst="line">
              <a:avLst/>
            </a:prstGeom>
            <a:ln cap="flat" w="50800">
              <a:solidFill>
                <a:srgbClr val="73D48B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6360212" y="250616"/>
            <a:ext cx="11303414" cy="235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925"/>
              </a:lnSpc>
              <a:spcBef>
                <a:spcPct val="0"/>
              </a:spcBef>
            </a:pPr>
            <a:r>
              <a:rPr lang="en-US" sz="9297">
                <a:solidFill>
                  <a:srgbClr val="000000"/>
                </a:solidFill>
                <a:latin typeface="Zilla Slab"/>
                <a:ea typeface="Zilla Slab"/>
                <a:cs typeface="Zilla Slab"/>
                <a:sym typeface="Zilla Slab"/>
              </a:rPr>
              <a:t>Plan de </a:t>
            </a:r>
            <a:r>
              <a:rPr lang="en-US" sz="9297" strike="noStrike" u="none">
                <a:solidFill>
                  <a:srgbClr val="000000"/>
                </a:solidFill>
                <a:latin typeface="Zilla Slab"/>
                <a:ea typeface="Zilla Slab"/>
                <a:cs typeface="Zilla Slab"/>
                <a:sym typeface="Zilla Slab"/>
              </a:rPr>
              <a:t>Trabajo e Hitos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740429" y="7071948"/>
            <a:ext cx="2453575" cy="144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08"/>
              </a:lnSpc>
              <a:spcBef>
                <a:spcPct val="0"/>
              </a:spcBef>
            </a:pPr>
            <a:r>
              <a:rPr lang="en-US" sz="1852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C</a:t>
            </a:r>
            <a:r>
              <a:rPr lang="en-US" sz="1852" strike="noStrike" u="none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onstrucción de las gráficas visuales en el Frontend con los datos obtenidos de las APIs.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10135" y="7174118"/>
            <a:ext cx="2516157" cy="1110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82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Definicion del problema arquitectura tecnica y diseño.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40209" y="7278893"/>
            <a:ext cx="2516157" cy="1853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82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rPr>
              <a:t>Levantamiento de base de datos, desarrollo de la lógica del sistema y conexión de apis.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182540" y="5644623"/>
            <a:ext cx="571348" cy="57134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D48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11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440571" y="5644623"/>
            <a:ext cx="571348" cy="571348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D48B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11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482247" y="5644623"/>
            <a:ext cx="571348" cy="571348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3D48B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11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5760009" y="6244546"/>
            <a:ext cx="3416410" cy="899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83"/>
              </a:lnSpc>
              <a:spcBef>
                <a:spcPct val="0"/>
              </a:spcBef>
            </a:pPr>
            <a:r>
              <a:rPr lang="en-US" sz="3199">
                <a:solidFill>
                  <a:srgbClr val="63AF76"/>
                </a:solidFill>
                <a:latin typeface="Zilla Slab"/>
                <a:ea typeface="Zilla Slab"/>
                <a:cs typeface="Zilla Slab"/>
                <a:sym typeface="Zilla Slab"/>
              </a:rPr>
              <a:t>FASE 1 : PLANIFICACION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484127" y="6253171"/>
            <a:ext cx="2857033" cy="899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83"/>
              </a:lnSpc>
              <a:spcBef>
                <a:spcPct val="0"/>
              </a:spcBef>
            </a:pPr>
            <a:r>
              <a:rPr lang="en-US" sz="3199">
                <a:solidFill>
                  <a:srgbClr val="63AF76"/>
                </a:solidFill>
                <a:latin typeface="Zilla Slab"/>
                <a:ea typeface="Zilla Slab"/>
                <a:cs typeface="Zilla Slab"/>
                <a:sym typeface="Zilla Slab"/>
              </a:rPr>
              <a:t>FASE 3: DESPLIEGUE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194858" y="6235021"/>
            <a:ext cx="3406859" cy="91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7"/>
              </a:lnSpc>
            </a:pPr>
            <a:r>
              <a:rPr lang="en-US" sz="3229">
                <a:solidFill>
                  <a:srgbClr val="63AF76"/>
                </a:solidFill>
                <a:latin typeface="Zilla Slab"/>
                <a:ea typeface="Zilla Slab"/>
                <a:cs typeface="Zilla Slab"/>
                <a:sym typeface="Zilla Slab"/>
              </a:rPr>
              <a:t>FASE 2:</a:t>
            </a:r>
          </a:p>
          <a:p>
            <a:pPr algn="ctr" marL="0" indent="0" lvl="0">
              <a:lnSpc>
                <a:spcPts val="3617"/>
              </a:lnSpc>
              <a:spcBef>
                <a:spcPct val="0"/>
              </a:spcBef>
            </a:pPr>
            <a:r>
              <a:rPr lang="en-US" sz="3229">
                <a:solidFill>
                  <a:srgbClr val="63AF76"/>
                </a:solidFill>
                <a:latin typeface="Zilla Slab"/>
                <a:ea typeface="Zilla Slab"/>
                <a:cs typeface="Zilla Slab"/>
                <a:sym typeface="Zilla Slab"/>
              </a:rPr>
              <a:t>INTEGRACION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1DD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21802" y="1028700"/>
            <a:ext cx="16137498" cy="9258300"/>
            <a:chOff x="0" y="0"/>
            <a:chExt cx="4250205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50205" cy="2438400"/>
            </a:xfrm>
            <a:custGeom>
              <a:avLst/>
              <a:gdLst/>
              <a:ahLst/>
              <a:cxnLst/>
              <a:rect r="r" b="b" t="t" l="l"/>
              <a:pathLst>
                <a:path h="2438400" w="4250205">
                  <a:moveTo>
                    <a:pt x="0" y="0"/>
                  </a:moveTo>
                  <a:lnTo>
                    <a:pt x="4250205" y="0"/>
                  </a:lnTo>
                  <a:lnTo>
                    <a:pt x="4250205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4250205" cy="2533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1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621036" y="3854167"/>
            <a:ext cx="3484101" cy="4467672"/>
            <a:chOff x="0" y="0"/>
            <a:chExt cx="917623" cy="11766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7623" cy="1176671"/>
            </a:xfrm>
            <a:custGeom>
              <a:avLst/>
              <a:gdLst/>
              <a:ahLst/>
              <a:cxnLst/>
              <a:rect r="r" b="b" t="t" l="l"/>
              <a:pathLst>
                <a:path h="1176671" w="917623">
                  <a:moveTo>
                    <a:pt x="0" y="0"/>
                  </a:moveTo>
                  <a:lnTo>
                    <a:pt x="917623" y="0"/>
                  </a:lnTo>
                  <a:lnTo>
                    <a:pt x="917623" y="1176671"/>
                  </a:lnTo>
                  <a:lnTo>
                    <a:pt x="0" y="1176671"/>
                  </a:lnTo>
                  <a:close/>
                </a:path>
              </a:pathLst>
            </a:custGeom>
            <a:solidFill>
              <a:srgbClr val="73D48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917623" cy="12719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1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448962" y="3741991"/>
            <a:ext cx="3484101" cy="4467672"/>
            <a:chOff x="0" y="0"/>
            <a:chExt cx="917623" cy="11766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7623" cy="1176671"/>
            </a:xfrm>
            <a:custGeom>
              <a:avLst/>
              <a:gdLst/>
              <a:ahLst/>
              <a:cxnLst/>
              <a:rect r="r" b="b" t="t" l="l"/>
              <a:pathLst>
                <a:path h="1176671" w="917623">
                  <a:moveTo>
                    <a:pt x="0" y="0"/>
                  </a:moveTo>
                  <a:lnTo>
                    <a:pt x="917623" y="0"/>
                  </a:lnTo>
                  <a:lnTo>
                    <a:pt x="917623" y="1176671"/>
                  </a:lnTo>
                  <a:lnTo>
                    <a:pt x="0" y="1176671"/>
                  </a:lnTo>
                  <a:close/>
                </a:path>
              </a:pathLst>
            </a:custGeom>
            <a:solidFill>
              <a:srgbClr val="73D48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0"/>
              <a:ext cx="917623" cy="12719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11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275964" y="3741991"/>
            <a:ext cx="3484101" cy="4467672"/>
            <a:chOff x="0" y="0"/>
            <a:chExt cx="917623" cy="11766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7623" cy="1176671"/>
            </a:xfrm>
            <a:custGeom>
              <a:avLst/>
              <a:gdLst/>
              <a:ahLst/>
              <a:cxnLst/>
              <a:rect r="r" b="b" t="t" l="l"/>
              <a:pathLst>
                <a:path h="1176671" w="917623">
                  <a:moveTo>
                    <a:pt x="0" y="0"/>
                  </a:moveTo>
                  <a:lnTo>
                    <a:pt x="917623" y="0"/>
                  </a:lnTo>
                  <a:lnTo>
                    <a:pt x="917623" y="1176671"/>
                  </a:lnTo>
                  <a:lnTo>
                    <a:pt x="0" y="1176671"/>
                  </a:lnTo>
                  <a:close/>
                </a:path>
              </a:pathLst>
            </a:custGeom>
            <a:solidFill>
              <a:srgbClr val="73D48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0"/>
              <a:ext cx="917623" cy="12719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11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555601" y="1325771"/>
            <a:ext cx="1548396" cy="1808106"/>
          </a:xfrm>
          <a:custGeom>
            <a:avLst/>
            <a:gdLst/>
            <a:ahLst/>
            <a:cxnLst/>
            <a:rect r="r" b="b" t="t" l="l"/>
            <a:pathLst>
              <a:path h="1808106" w="1548396">
                <a:moveTo>
                  <a:pt x="0" y="0"/>
                </a:moveTo>
                <a:lnTo>
                  <a:pt x="1548396" y="0"/>
                </a:lnTo>
                <a:lnTo>
                  <a:pt x="1548396" y="1808105"/>
                </a:lnTo>
                <a:lnTo>
                  <a:pt x="0" y="18081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5" id="15"/>
          <p:cNvSpPr txBox="true"/>
          <p:nvPr/>
        </p:nvSpPr>
        <p:spPr>
          <a:xfrm rot="0">
            <a:off x="2635524" y="1492196"/>
            <a:ext cx="12954832" cy="1327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262"/>
              </a:lnSpc>
              <a:spcBef>
                <a:spcPct val="0"/>
              </a:spcBef>
            </a:pPr>
            <a:r>
              <a:rPr lang="en-US" sz="9162">
                <a:solidFill>
                  <a:srgbClr val="000000"/>
                </a:solidFill>
                <a:latin typeface="Zilla Slab"/>
                <a:ea typeface="Zilla Slab"/>
                <a:cs typeface="Zilla Slab"/>
                <a:sym typeface="Zilla Slab"/>
              </a:rPr>
              <a:t>EVIDENCIAS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875861" y="4041055"/>
            <a:ext cx="2974452" cy="602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56"/>
              </a:lnSpc>
              <a:spcBef>
                <a:spcPct val="0"/>
              </a:spcBef>
            </a:pPr>
            <a:r>
              <a:rPr lang="en-US" b="true" sz="2103">
                <a:solidFill>
                  <a:srgbClr val="000000"/>
                </a:solidFill>
                <a:latin typeface="Zilla Slab Bold"/>
                <a:ea typeface="Zilla Slab Bold"/>
                <a:cs typeface="Zilla Slab Bold"/>
                <a:sym typeface="Zilla Slab Bold"/>
              </a:rPr>
              <a:t>DISEÑO Y PROTOTIPADO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875861" y="4941108"/>
            <a:ext cx="2974452" cy="1505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56"/>
              </a:lnSpc>
              <a:spcBef>
                <a:spcPct val="0"/>
              </a:spcBef>
            </a:pPr>
            <a:r>
              <a:rPr lang="en-US" sz="2103">
                <a:solidFill>
                  <a:srgbClr val="000000"/>
                </a:solidFill>
                <a:latin typeface="Zilla Slab"/>
                <a:ea typeface="Zilla Slab"/>
                <a:cs typeface="Zilla Slab"/>
                <a:sym typeface="Zilla Slab"/>
              </a:rPr>
              <a:t>MOCKUP DEL PROYECTO MOSTRANDO LA ESTRUCTURA Y EL FLUJO DE LOS DATOS 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1033" y="3975162"/>
            <a:ext cx="2974452" cy="602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56"/>
              </a:lnSpc>
              <a:spcBef>
                <a:spcPct val="0"/>
              </a:spcBef>
            </a:pPr>
            <a:r>
              <a:rPr lang="en-US" b="true" sz="2103">
                <a:solidFill>
                  <a:srgbClr val="000000"/>
                </a:solidFill>
                <a:latin typeface="Zilla Slab Bold"/>
                <a:ea typeface="Zilla Slab Bold"/>
                <a:cs typeface="Zilla Slab Bold"/>
                <a:sym typeface="Zilla Slab Bold"/>
              </a:rPr>
              <a:t>ARQUITECTURA TÉCNICA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95039" y="4041055"/>
            <a:ext cx="2974452" cy="30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56"/>
              </a:lnSpc>
              <a:spcBef>
                <a:spcPct val="0"/>
              </a:spcBef>
            </a:pPr>
            <a:r>
              <a:rPr lang="en-US" b="true" sz="2103">
                <a:solidFill>
                  <a:srgbClr val="000000"/>
                </a:solidFill>
                <a:latin typeface="Zilla Slab Bold"/>
                <a:ea typeface="Zilla Slab Bold"/>
                <a:cs typeface="Zilla Slab Bold"/>
                <a:sym typeface="Zilla Slab Bold"/>
              </a:rPr>
              <a:t>PRODUCTO FINAL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703787" y="4941108"/>
            <a:ext cx="2974452" cy="240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56"/>
              </a:lnSpc>
              <a:spcBef>
                <a:spcPct val="0"/>
              </a:spcBef>
            </a:pPr>
            <a:r>
              <a:rPr lang="en-US" sz="2103">
                <a:solidFill>
                  <a:srgbClr val="000000"/>
                </a:solidFill>
                <a:latin typeface="Zilla Slab"/>
                <a:ea typeface="Zilla Slab"/>
                <a:cs typeface="Zilla Slab"/>
                <a:sym typeface="Zilla Slab"/>
              </a:rPr>
              <a:t>DOCUMENTO TÉCNICO DE ARQUITECTURA: DEFINE CÓMO SE INTEGRA LA API DEL BANCO DE  EL SISTEMA, INCLUYENDO AUTENTICACIÓN, FLUJO DE DATOS 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495039" y="4791698"/>
            <a:ext cx="2974452" cy="30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56"/>
              </a:lnSpc>
              <a:spcBef>
                <a:spcPct val="0"/>
              </a:spcBef>
            </a:pPr>
            <a:r>
              <a:rPr lang="en-US" sz="2103">
                <a:solidFill>
                  <a:srgbClr val="000000"/>
                </a:solidFill>
                <a:latin typeface="Zilla Slab"/>
                <a:ea typeface="Zilla Slab"/>
                <a:cs typeface="Zilla Slab"/>
                <a:sym typeface="Zilla Slab"/>
              </a:rPr>
              <a:t>APLICACIÓN WEB FUNCIONAL CON DASHBOARD DE GESTIÓN FINANCIERA E IA INTEGRADA, CAPAZ DE ANALIZAR LOS DATOS DEL USUARIO Y ENTREGAR SUGERENCIAS PERSONALIZADAS.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3D4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57136">
            <a:off x="1095557" y="2342966"/>
            <a:ext cx="8139767" cy="6306612"/>
            <a:chOff x="0" y="0"/>
            <a:chExt cx="2143807" cy="16610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3807" cy="1661001"/>
            </a:xfrm>
            <a:custGeom>
              <a:avLst/>
              <a:gdLst/>
              <a:ahLst/>
              <a:cxnLst/>
              <a:rect r="r" b="b" t="t" l="l"/>
              <a:pathLst>
                <a:path h="1661001" w="2143807">
                  <a:moveTo>
                    <a:pt x="0" y="0"/>
                  </a:moveTo>
                  <a:lnTo>
                    <a:pt x="2143807" y="0"/>
                  </a:lnTo>
                  <a:lnTo>
                    <a:pt x="2143807" y="1661001"/>
                  </a:lnTo>
                  <a:lnTo>
                    <a:pt x="0" y="1661001"/>
                  </a:lnTo>
                  <a:close/>
                </a:path>
              </a:pathLst>
            </a:custGeom>
            <a:solidFill>
              <a:srgbClr val="4DA363">
                <a:alpha val="57647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2143807" cy="17562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1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57136">
            <a:off x="1264957" y="1903135"/>
            <a:ext cx="8139767" cy="6480730"/>
            <a:chOff x="0" y="0"/>
            <a:chExt cx="2143807" cy="17068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43807" cy="1706859"/>
            </a:xfrm>
            <a:custGeom>
              <a:avLst/>
              <a:gdLst/>
              <a:ahLst/>
              <a:cxnLst/>
              <a:rect r="r" b="b" t="t" l="l"/>
              <a:pathLst>
                <a:path h="1706859" w="2143807">
                  <a:moveTo>
                    <a:pt x="0" y="0"/>
                  </a:moveTo>
                  <a:lnTo>
                    <a:pt x="2143807" y="0"/>
                  </a:lnTo>
                  <a:lnTo>
                    <a:pt x="2143807" y="1706859"/>
                  </a:lnTo>
                  <a:lnTo>
                    <a:pt x="0" y="170685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2143807" cy="1802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1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3112698">
            <a:off x="11387185" y="300177"/>
            <a:ext cx="1433306" cy="2671970"/>
          </a:xfrm>
          <a:custGeom>
            <a:avLst/>
            <a:gdLst/>
            <a:ahLst/>
            <a:cxnLst/>
            <a:rect r="r" b="b" t="t" l="l"/>
            <a:pathLst>
              <a:path h="2671970" w="1433306">
                <a:moveTo>
                  <a:pt x="0" y="0"/>
                </a:moveTo>
                <a:lnTo>
                  <a:pt x="1433307" y="0"/>
                </a:lnTo>
                <a:lnTo>
                  <a:pt x="1433307" y="2671970"/>
                </a:lnTo>
                <a:lnTo>
                  <a:pt x="0" y="2671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30933" t="0" r="0" b="-53998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674912">
            <a:off x="14263471" y="-1088363"/>
            <a:ext cx="1433306" cy="2671970"/>
          </a:xfrm>
          <a:custGeom>
            <a:avLst/>
            <a:gdLst/>
            <a:ahLst/>
            <a:cxnLst/>
            <a:rect r="r" b="b" t="t" l="l"/>
            <a:pathLst>
              <a:path h="2671970" w="1433306">
                <a:moveTo>
                  <a:pt x="0" y="0"/>
                </a:moveTo>
                <a:lnTo>
                  <a:pt x="1433307" y="0"/>
                </a:lnTo>
                <a:lnTo>
                  <a:pt x="1433307" y="2671970"/>
                </a:lnTo>
                <a:lnTo>
                  <a:pt x="0" y="26719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30933" t="0" r="0" b="-53998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0" y="8832250"/>
            <a:ext cx="2079348" cy="2493256"/>
          </a:xfrm>
          <a:custGeom>
            <a:avLst/>
            <a:gdLst/>
            <a:ahLst/>
            <a:cxnLst/>
            <a:rect r="r" b="b" t="t" l="l"/>
            <a:pathLst>
              <a:path h="2493256" w="2079348">
                <a:moveTo>
                  <a:pt x="0" y="0"/>
                </a:moveTo>
                <a:lnTo>
                  <a:pt x="2079348" y="0"/>
                </a:lnTo>
                <a:lnTo>
                  <a:pt x="2079348" y="2493256"/>
                </a:lnTo>
                <a:lnTo>
                  <a:pt x="0" y="2493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3898" t="-65037" r="-74215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1" id="11"/>
          <p:cNvGrpSpPr/>
          <p:nvPr/>
        </p:nvGrpSpPr>
        <p:grpSpPr>
          <a:xfrm rot="0">
            <a:off x="3072682" y="1340323"/>
            <a:ext cx="4290294" cy="1160359"/>
            <a:chOff x="0" y="0"/>
            <a:chExt cx="5720392" cy="1547146"/>
          </a:xfrm>
        </p:grpSpPr>
        <p:sp>
          <p:nvSpPr>
            <p:cNvPr name="Freeform 12" id="12"/>
            <p:cNvSpPr/>
            <p:nvPr/>
          </p:nvSpPr>
          <p:spPr>
            <a:xfrm flipH="false" flipV="false" rot="-148236">
              <a:off x="11657" y="122161"/>
              <a:ext cx="5682136" cy="663382"/>
            </a:xfrm>
            <a:custGeom>
              <a:avLst/>
              <a:gdLst/>
              <a:ahLst/>
              <a:cxnLst/>
              <a:rect r="r" b="b" t="t" l="l"/>
              <a:pathLst>
                <a:path h="663382" w="5682136">
                  <a:moveTo>
                    <a:pt x="0" y="0"/>
                  </a:moveTo>
                  <a:lnTo>
                    <a:pt x="5682137" y="0"/>
                  </a:lnTo>
                  <a:lnTo>
                    <a:pt x="5682137" y="663382"/>
                  </a:lnTo>
                  <a:lnTo>
                    <a:pt x="0" y="6633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73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-104499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-148236">
              <a:off x="26599" y="761603"/>
              <a:ext cx="5682136" cy="663382"/>
            </a:xfrm>
            <a:custGeom>
              <a:avLst/>
              <a:gdLst/>
              <a:ahLst/>
              <a:cxnLst/>
              <a:rect r="r" b="b" t="t" l="l"/>
              <a:pathLst>
                <a:path h="663382" w="5682136">
                  <a:moveTo>
                    <a:pt x="0" y="0"/>
                  </a:moveTo>
                  <a:lnTo>
                    <a:pt x="5682136" y="0"/>
                  </a:lnTo>
                  <a:lnTo>
                    <a:pt x="5682136" y="663382"/>
                  </a:lnTo>
                  <a:lnTo>
                    <a:pt x="0" y="6633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47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-104499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-157136">
            <a:off x="2041256" y="4060297"/>
            <a:ext cx="6783399" cy="2013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848"/>
              </a:lnSpc>
              <a:spcBef>
                <a:spcPct val="0"/>
              </a:spcBef>
            </a:pPr>
            <a:r>
              <a:rPr lang="en-US" sz="15467">
                <a:solidFill>
                  <a:srgbClr val="000000"/>
                </a:solidFill>
                <a:latin typeface="Zilla Slab"/>
                <a:ea typeface="Zilla Slab"/>
                <a:cs typeface="Zilla Slab"/>
                <a:sym typeface="Zilla Slab"/>
              </a:rPr>
              <a:t>Gracias</a:t>
            </a:r>
          </a:p>
        </p:txBody>
      </p:sp>
      <p:grpSp>
        <p:nvGrpSpPr>
          <p:cNvPr name="Group 15" id="15"/>
          <p:cNvGrpSpPr/>
          <p:nvPr/>
        </p:nvGrpSpPr>
        <p:grpSpPr>
          <a:xfrm rot="70540">
            <a:off x="13325612" y="2402721"/>
            <a:ext cx="1428080" cy="1415797"/>
            <a:chOff x="0" y="0"/>
            <a:chExt cx="1904107" cy="1887729"/>
          </a:xfrm>
        </p:grpSpPr>
        <p:sp>
          <p:nvSpPr>
            <p:cNvPr name="Freeform 16" id="16"/>
            <p:cNvSpPr/>
            <p:nvPr/>
          </p:nvSpPr>
          <p:spPr>
            <a:xfrm flipH="false" flipV="false" rot="-391116">
              <a:off x="43450" y="94795"/>
              <a:ext cx="1719192" cy="863370"/>
            </a:xfrm>
            <a:custGeom>
              <a:avLst/>
              <a:gdLst/>
              <a:ahLst/>
              <a:cxnLst/>
              <a:rect r="r" b="b" t="t" l="l"/>
              <a:pathLst>
                <a:path h="863370" w="1719192">
                  <a:moveTo>
                    <a:pt x="0" y="0"/>
                  </a:moveTo>
                  <a:lnTo>
                    <a:pt x="1719192" y="0"/>
                  </a:lnTo>
                  <a:lnTo>
                    <a:pt x="1719192" y="863370"/>
                  </a:lnTo>
                  <a:lnTo>
                    <a:pt x="0" y="8633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-99488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-391116">
              <a:off x="141465" y="929564"/>
              <a:ext cx="1719192" cy="863370"/>
            </a:xfrm>
            <a:custGeom>
              <a:avLst/>
              <a:gdLst/>
              <a:ahLst/>
              <a:cxnLst/>
              <a:rect r="r" b="b" t="t" l="l"/>
              <a:pathLst>
                <a:path h="863370" w="1719192">
                  <a:moveTo>
                    <a:pt x="0" y="0"/>
                  </a:moveTo>
                  <a:lnTo>
                    <a:pt x="1719191" y="0"/>
                  </a:lnTo>
                  <a:lnTo>
                    <a:pt x="1719191" y="863369"/>
                  </a:lnTo>
                  <a:lnTo>
                    <a:pt x="0" y="8633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48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-99488" r="0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DAHULbz2MSI</dc:identifier>
  <dcterms:modified xsi:type="dcterms:W3CDTF">2011-08-01T06:04:30Z</dcterms:modified>
  <cp:revision>1</cp:revision>
  <dc:title>Copia de Modern Simple Notebook Middle School-First Week of School</dc:title>
</cp:coreProperties>
</file>